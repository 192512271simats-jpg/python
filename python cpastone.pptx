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3" r:id="rId3"/>
    <p:sldId id="257" r:id="rId4"/>
    <p:sldId id="258" r:id="rId5"/>
    <p:sldId id="259" r:id="rId6"/>
    <p:sldId id="260" r:id="rId7"/>
    <p:sldId id="261" r:id="rId8"/>
    <p:sldId id="262" r:id="rId9"/>
    <p:sldId id="263" r:id="rId10"/>
    <p:sldId id="266" r:id="rId11"/>
    <p:sldId id="274" r:id="rId12"/>
    <p:sldId id="268" r:id="rId13"/>
    <p:sldId id="269" r:id="rId14"/>
    <p:sldId id="270" r:id="rId15"/>
    <p:sldId id="272"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700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162000" y="1170000"/>
            <a:ext cx="8820000" cy="1436400"/>
          </a:xfrm>
          <a:prstGeom prst="rect">
            <a:avLst/>
          </a:prstGeom>
          <a:noFill/>
          <a:ln/>
        </p:spPr>
        <p:txBody>
          <a:bodyPr wrap="square" rtlCol="0" anchor="ctr"/>
          <a:lstStyle/>
          <a:p>
            <a:pPr algn="ctr"/>
            <a:r>
              <a:rPr lang="en-US" sz="3000" b="1" dirty="0">
                <a:latin typeface="Times New Roman" panose="02020603050405020304" pitchFamily="18" charset="0"/>
                <a:ea typeface="Segoe UI" pitchFamily="34" charset="-122"/>
                <a:cs typeface="Times New Roman" panose="02020603050405020304" pitchFamily="18" charset="0"/>
              </a:rPr>
              <a:t>CYBERVERSE: </a:t>
            </a:r>
            <a:r>
              <a:rPr lang="en-US" sz="2800" b="1" dirty="0">
                <a:latin typeface="Times New Roman" panose="02020603050405020304" pitchFamily="18" charset="0"/>
                <a:ea typeface="Segoe UI" pitchFamily="34" charset="-122"/>
                <a:cs typeface="Times New Roman" panose="02020603050405020304" pitchFamily="18" charset="0"/>
              </a:rPr>
              <a:t>An Integrated Cybersecurity Platform Compared with Traditional Security Tools for Comprehensive Threat Detection and Analysis</a:t>
            </a:r>
            <a:endParaRPr lang="en-US" sz="28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A5F5E63-4C42-80D6-6759-2B854B2ED2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74933"/>
            <a:ext cx="8161200" cy="733932"/>
          </a:xfrm>
          <a:prstGeom prst="rect">
            <a:avLst/>
          </a:prstGeom>
          <a:noFill/>
          <a:ln>
            <a:noFill/>
          </a:ln>
        </p:spPr>
      </p:pic>
      <p:grpSp>
        <p:nvGrpSpPr>
          <p:cNvPr id="10" name="Group 9">
            <a:extLst>
              <a:ext uri="{FF2B5EF4-FFF2-40B4-BE49-F238E27FC236}">
                <a16:creationId xmlns:a16="http://schemas.microsoft.com/office/drawing/2014/main" id="{700D3AEF-F2DD-A5F7-A60F-52A4A2174152}"/>
              </a:ext>
            </a:extLst>
          </p:cNvPr>
          <p:cNvGrpSpPr/>
          <p:nvPr/>
        </p:nvGrpSpPr>
        <p:grpSpPr>
          <a:xfrm>
            <a:off x="626981" y="2842416"/>
            <a:ext cx="7821637" cy="2126141"/>
            <a:chOff x="609599" y="3060065"/>
            <a:chExt cx="12192000" cy="6631292"/>
          </a:xfrm>
        </p:grpSpPr>
        <p:sp>
          <p:nvSpPr>
            <p:cNvPr id="11" name="Rectangle 10">
              <a:extLst>
                <a:ext uri="{FF2B5EF4-FFF2-40B4-BE49-F238E27FC236}">
                  <a16:creationId xmlns:a16="http://schemas.microsoft.com/office/drawing/2014/main" id="{79659F08-7EAB-E6DE-16E7-8FF7882FEC23}"/>
                </a:ext>
              </a:extLst>
            </p:cNvPr>
            <p:cNvSpPr/>
            <p:nvPr/>
          </p:nvSpPr>
          <p:spPr>
            <a:xfrm>
              <a:off x="7264767" y="3060065"/>
              <a:ext cx="5105399" cy="4199116"/>
            </a:xfrm>
            <a:prstGeom prst="rect">
              <a:avLst/>
            </a:prstGeom>
          </p:spPr>
          <p:txBody>
            <a:bodyPr wrap="square">
              <a:spAutoFit/>
            </a:bodyPr>
            <a:lstStyle/>
            <a:p>
              <a:pPr algn="ctr">
                <a:lnSpc>
                  <a:spcPct val="150000"/>
                </a:lnSpc>
                <a:spcBef>
                  <a:spcPts val="100"/>
                </a:spcBef>
              </a:pPr>
              <a:r>
                <a:rPr lang="en-IN" sz="1400" b="1" spc="-10" dirty="0">
                  <a:solidFill>
                    <a:schemeClr val="tx1"/>
                  </a:solidFill>
                  <a:latin typeface="Times New Roman" panose="02020603050405020304" pitchFamily="18" charset="0"/>
                  <a:cs typeface="Times New Roman" panose="02020603050405020304" pitchFamily="18" charset="0"/>
                </a:rPr>
                <a:t>Presented</a:t>
              </a:r>
              <a:r>
                <a:rPr lang="en-IN" sz="1400" b="1" spc="-90" dirty="0">
                  <a:solidFill>
                    <a:schemeClr val="tx1"/>
                  </a:solidFill>
                  <a:latin typeface="Times New Roman" panose="02020603050405020304" pitchFamily="18" charset="0"/>
                  <a:cs typeface="Times New Roman" panose="02020603050405020304" pitchFamily="18" charset="0"/>
                </a:rPr>
                <a:t> </a:t>
              </a:r>
              <a:r>
                <a:rPr lang="en-IN" sz="1400" b="1" spc="-25" dirty="0">
                  <a:solidFill>
                    <a:schemeClr val="tx1"/>
                  </a:solidFill>
                  <a:latin typeface="Times New Roman" panose="02020603050405020304" pitchFamily="18" charset="0"/>
                  <a:cs typeface="Times New Roman" panose="02020603050405020304" pitchFamily="18" charset="0"/>
                </a:rPr>
                <a:t>by:</a:t>
              </a:r>
              <a:endParaRPr lang="en-IN" sz="1400" b="1" dirty="0">
                <a:solidFill>
                  <a:schemeClr val="tx1"/>
                </a:solidFill>
                <a:latin typeface="Times New Roman" panose="02020603050405020304" pitchFamily="18" charset="0"/>
                <a:cs typeface="Times New Roman" panose="02020603050405020304" pitchFamily="18" charset="0"/>
              </a:endParaRPr>
            </a:p>
            <a:p>
              <a:pPr marL="12700" marR="5080" algn="ctr">
                <a:lnSpc>
                  <a:spcPct val="150000"/>
                </a:lnSpc>
              </a:pPr>
              <a:r>
                <a:rPr lang="en-IN" sz="1400" spc="-25" dirty="0">
                  <a:solidFill>
                    <a:schemeClr val="tx1"/>
                  </a:solidFill>
                  <a:latin typeface="Times New Roman" panose="02020603050405020304" pitchFamily="18" charset="0"/>
                  <a:cs typeface="Times New Roman" panose="02020603050405020304" pitchFamily="18" charset="0"/>
                </a:rPr>
                <a:t>    Mohamed Haroon P (192511313)</a:t>
              </a:r>
            </a:p>
            <a:p>
              <a:pPr marL="12700" marR="5080" algn="ctr">
                <a:lnSpc>
                  <a:spcPct val="150000"/>
                </a:lnSpc>
              </a:pPr>
              <a:r>
                <a:rPr lang="en-IN" sz="1400" spc="-25" dirty="0">
                  <a:latin typeface="Times New Roman" panose="02020603050405020304" pitchFamily="18" charset="0"/>
                  <a:cs typeface="Times New Roman" panose="02020603050405020304" pitchFamily="18" charset="0"/>
                </a:rPr>
                <a:t>Anbalagan M (192565059)</a:t>
              </a:r>
            </a:p>
            <a:p>
              <a:pPr marL="12700" marR="5080" algn="ctr">
                <a:lnSpc>
                  <a:spcPct val="150000"/>
                </a:lnSpc>
              </a:pPr>
              <a:r>
                <a:rPr lang="en-IN" sz="1400" spc="-25" dirty="0">
                  <a:solidFill>
                    <a:schemeClr val="tx1"/>
                  </a:solidFill>
                  <a:latin typeface="Times New Roman" panose="02020603050405020304" pitchFamily="18" charset="0"/>
                  <a:cs typeface="Times New Roman" panose="02020603050405020304" pitchFamily="18" charset="0"/>
                </a:rPr>
                <a:t> </a:t>
              </a:r>
              <a:r>
                <a:rPr lang="en-IN" sz="1400" spc="-25" dirty="0" err="1">
                  <a:solidFill>
                    <a:schemeClr val="tx1"/>
                  </a:solidFill>
                  <a:latin typeface="Times New Roman" panose="02020603050405020304" pitchFamily="18" charset="0"/>
                  <a:cs typeface="Times New Roman" panose="02020603050405020304" pitchFamily="18" charset="0"/>
                </a:rPr>
                <a:t>S.Santhoshkumar</a:t>
              </a:r>
              <a:r>
                <a:rPr lang="en-IN" sz="1400" spc="-25" dirty="0">
                  <a:solidFill>
                    <a:schemeClr val="tx1"/>
                  </a:solidFill>
                  <a:latin typeface="Times New Roman" panose="02020603050405020304" pitchFamily="18" charset="0"/>
                  <a:cs typeface="Times New Roman" panose="02020603050405020304" pitchFamily="18" charset="0"/>
                </a:rPr>
                <a:t> (192512271) </a:t>
              </a:r>
            </a:p>
          </p:txBody>
        </p:sp>
        <p:sp>
          <p:nvSpPr>
            <p:cNvPr id="12" name="TextBox 11">
              <a:extLst>
                <a:ext uri="{FF2B5EF4-FFF2-40B4-BE49-F238E27FC236}">
                  <a16:creationId xmlns:a16="http://schemas.microsoft.com/office/drawing/2014/main" id="{952661DD-2B73-7AF7-1244-29906105CEE4}"/>
                </a:ext>
              </a:extLst>
            </p:cNvPr>
            <p:cNvSpPr txBox="1"/>
            <p:nvPr/>
          </p:nvSpPr>
          <p:spPr>
            <a:xfrm>
              <a:off x="1254965" y="3060065"/>
              <a:ext cx="4330791" cy="4199116"/>
            </a:xfrm>
            <a:prstGeom prst="rect">
              <a:avLst/>
            </a:prstGeom>
            <a:noFill/>
          </p:spPr>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Guided by:</a:t>
              </a:r>
            </a:p>
            <a:p>
              <a:pPr>
                <a:lnSpc>
                  <a:spcPct val="150000"/>
                </a:lnSpc>
              </a:pPr>
              <a:r>
                <a:rPr lang="en-US" sz="1400" dirty="0">
                  <a:latin typeface="Times New Roman" panose="02020603050405020304" pitchFamily="18" charset="0"/>
                  <a:cs typeface="Times New Roman" panose="02020603050405020304" pitchFamily="18" charset="0"/>
                </a:rPr>
                <a:t>Dr. </a:t>
              </a:r>
              <a:r>
                <a:rPr lang="en-US" sz="1400" dirty="0" err="1">
                  <a:latin typeface="Times New Roman" panose="02020603050405020304" pitchFamily="18" charset="0"/>
                  <a:cs typeface="Times New Roman" panose="02020603050405020304" pitchFamily="18" charset="0"/>
                </a:rPr>
                <a:t>Ponmaniraj</a:t>
              </a:r>
              <a:r>
                <a:rPr lang="en-US" sz="1400" dirty="0">
                  <a:latin typeface="Times New Roman" panose="02020603050405020304" pitchFamily="18" charset="0"/>
                  <a:cs typeface="Times New Roman" panose="02020603050405020304" pitchFamily="18" charset="0"/>
                </a:rPr>
                <a:t> S</a:t>
              </a:r>
            </a:p>
            <a:p>
              <a:pPr>
                <a:lnSpc>
                  <a:spcPct val="150000"/>
                </a:lnSpc>
              </a:pPr>
              <a:r>
                <a:rPr lang="en-US" sz="1400" dirty="0">
                  <a:latin typeface="Times New Roman" panose="02020603050405020304" pitchFamily="18" charset="0"/>
                  <a:cs typeface="Times New Roman" panose="02020603050405020304" pitchFamily="18" charset="0"/>
                </a:rPr>
                <a:t>Professor</a:t>
              </a:r>
            </a:p>
            <a:p>
              <a:pPr>
                <a:lnSpc>
                  <a:spcPct val="150000"/>
                </a:lnSpc>
              </a:pPr>
              <a:r>
                <a:rPr lang="en-US" sz="1400" dirty="0">
                  <a:latin typeface="Times New Roman" panose="02020603050405020304" pitchFamily="18" charset="0"/>
                  <a:cs typeface="Times New Roman" panose="02020603050405020304" pitchFamily="18" charset="0"/>
                </a:rPr>
                <a:t>Department of Computer Science </a:t>
              </a:r>
            </a:p>
          </p:txBody>
        </p:sp>
        <p:sp>
          <p:nvSpPr>
            <p:cNvPr id="13" name="TextBox 12">
              <a:extLst>
                <a:ext uri="{FF2B5EF4-FFF2-40B4-BE49-F238E27FC236}">
                  <a16:creationId xmlns:a16="http://schemas.microsoft.com/office/drawing/2014/main" id="{C37A3759-0DA1-060D-8027-3BEEE4CFD627}"/>
                </a:ext>
              </a:extLst>
            </p:cNvPr>
            <p:cNvSpPr txBox="1"/>
            <p:nvPr/>
          </p:nvSpPr>
          <p:spPr>
            <a:xfrm>
              <a:off x="609599" y="8731421"/>
              <a:ext cx="12192000" cy="959936"/>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CSA0808:  Python Programming</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A071BEB-9BC1-7C6F-722E-097846BBA0E3}"/>
              </a:ext>
            </a:extLst>
          </p:cNvPr>
          <p:cNvSpPr/>
          <p:nvPr/>
        </p:nvSpPr>
        <p:spPr>
          <a:xfrm>
            <a:off x="0" y="9144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Abstract</a:t>
            </a:r>
            <a:endParaRPr lang="en-US" sz="2400" dirty="0"/>
          </a:p>
        </p:txBody>
      </p:sp>
      <p:grpSp>
        <p:nvGrpSpPr>
          <p:cNvPr id="3" name="Group 2">
            <a:extLst>
              <a:ext uri="{FF2B5EF4-FFF2-40B4-BE49-F238E27FC236}">
                <a16:creationId xmlns:a16="http://schemas.microsoft.com/office/drawing/2014/main" id="{57B5AF25-6DC0-3E75-1B2F-CE21F0029B0A}"/>
              </a:ext>
            </a:extLst>
          </p:cNvPr>
          <p:cNvGrpSpPr/>
          <p:nvPr/>
        </p:nvGrpSpPr>
        <p:grpSpPr>
          <a:xfrm>
            <a:off x="256553" y="47643"/>
            <a:ext cx="8786647" cy="722758"/>
            <a:chOff x="357352" y="191643"/>
            <a:chExt cx="11676913" cy="1342897"/>
          </a:xfrm>
        </p:grpSpPr>
        <p:pic>
          <p:nvPicPr>
            <p:cNvPr id="4" name="object 4">
              <a:extLst>
                <a:ext uri="{FF2B5EF4-FFF2-40B4-BE49-F238E27FC236}">
                  <a16:creationId xmlns:a16="http://schemas.microsoft.com/office/drawing/2014/main" id="{42CEE0AB-BEBB-6F4E-9961-7A18E82CEFC9}"/>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05239850-C7AD-B97A-9BD3-47F9712367F9}"/>
                </a:ext>
              </a:extLst>
            </p:cNvPr>
            <p:cNvPicPr/>
            <p:nvPr/>
          </p:nvPicPr>
          <p:blipFill>
            <a:blip r:embed="rId3" cstate="print"/>
            <a:stretch>
              <a:fillRect/>
            </a:stretch>
          </p:blipFill>
          <p:spPr>
            <a:xfrm>
              <a:off x="10514203" y="191643"/>
              <a:ext cx="1520062" cy="1342897"/>
            </a:xfrm>
            <a:prstGeom prst="rect">
              <a:avLst/>
            </a:prstGeom>
          </p:spPr>
        </p:pic>
      </p:grpSp>
      <p:sp>
        <p:nvSpPr>
          <p:cNvPr id="7" name="TextBox 6">
            <a:extLst>
              <a:ext uri="{FF2B5EF4-FFF2-40B4-BE49-F238E27FC236}">
                <a16:creationId xmlns:a16="http://schemas.microsoft.com/office/drawing/2014/main" id="{1BB2A8C4-BDD5-ACFB-090A-C53EF2E2941B}"/>
              </a:ext>
            </a:extLst>
          </p:cNvPr>
          <p:cNvSpPr txBox="1"/>
          <p:nvPr/>
        </p:nvSpPr>
        <p:spPr>
          <a:xfrm>
            <a:off x="465504" y="1158704"/>
            <a:ext cx="8212992" cy="2315827"/>
          </a:xfrm>
          <a:prstGeom prst="rect">
            <a:avLst/>
          </a:prstGeom>
          <a:noFill/>
        </p:spPr>
        <p:txBody>
          <a:bodyPr wrap="square">
            <a:spAutoFit/>
          </a:bodyPr>
          <a:lstStyle/>
          <a:p>
            <a:pPr algn="just">
              <a:lnSpc>
                <a:spcPct val="150000"/>
              </a:lnSpc>
            </a:pPr>
            <a:r>
              <a:rPr lang="en-US" sz="1400" dirty="0" err="1">
                <a:latin typeface="Times New Roman" panose="02020603050405020304" pitchFamily="18" charset="0"/>
                <a:cs typeface="Times New Roman" panose="02020603050405020304" pitchFamily="18" charset="0"/>
              </a:rPr>
              <a:t>CyberVerse</a:t>
            </a:r>
            <a:r>
              <a:rPr lang="en-US" sz="1400" dirty="0">
                <a:latin typeface="Times New Roman" panose="02020603050405020304" pitchFamily="18" charset="0"/>
                <a:cs typeface="Times New Roman" panose="02020603050405020304" pitchFamily="18" charset="0"/>
              </a:rPr>
              <a:t>-AI is a centralized web-based cybersecurity platform designed to integrate multiple security analysis functions into a single application. It provides users with password analysis, URL threat scanning, email analysis, file integrity checking, security reporting, and dashboard-based monitoring. The platform follows a modular Flask architecture with Python as the backend, MySQL for database management, and HTML, CSS, and JavaScript for the frontend. By combining these security workflows with common authentication and administrative features, </a:t>
            </a:r>
            <a:r>
              <a:rPr lang="en-US" sz="1400" dirty="0" err="1">
                <a:latin typeface="Times New Roman" panose="02020603050405020304" pitchFamily="18" charset="0"/>
                <a:cs typeface="Times New Roman" panose="02020603050405020304" pitchFamily="18" charset="0"/>
              </a:rPr>
              <a:t>CyberVerse</a:t>
            </a:r>
            <a:r>
              <a:rPr lang="en-US" sz="1400" dirty="0">
                <a:latin typeface="Times New Roman" panose="02020603050405020304" pitchFamily="18" charset="0"/>
                <a:cs typeface="Times New Roman" panose="02020603050405020304" pitchFamily="18" charset="0"/>
              </a:rPr>
              <a:t>-AI provides a practical foundation for demonstrating and extending cybersecurity analysis in one user-friendly platform.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708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9144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Introduction</a:t>
            </a:r>
            <a:endParaRPr lang="en-US" sz="2400" dirty="0"/>
          </a:p>
        </p:txBody>
      </p:sp>
      <p:sp>
        <p:nvSpPr>
          <p:cNvPr id="4" name="Text 2"/>
          <p:cNvSpPr/>
          <p:nvPr/>
        </p:nvSpPr>
        <p:spPr>
          <a:xfrm>
            <a:off x="364597" y="1035180"/>
            <a:ext cx="5204160" cy="3390839"/>
          </a:xfrm>
          <a:prstGeom prst="rect">
            <a:avLst/>
          </a:prstGeom>
          <a:noFill/>
          <a:ln/>
        </p:spPr>
        <p:txBody>
          <a:bodyPr wrap="square" rtlCol="0" anchor="ctr"/>
          <a:lstStyle/>
          <a:p>
            <a:pPr marL="285750" lvl="0" indent="-285750" algn="just">
              <a:lnSpc>
                <a:spcPct val="150000"/>
              </a:lnSpc>
              <a:buFont typeface="Arial" panose="020B0604020202020204" pitchFamily="34" charset="0"/>
              <a:buChar char="•"/>
            </a:pPr>
            <a:r>
              <a:rPr lang="en-US" sz="1400" dirty="0" err="1">
                <a:latin typeface="Times New Roman" panose="02020603050405020304" pitchFamily="18" charset="0"/>
                <a:cs typeface="Times New Roman" panose="02020603050405020304" pitchFamily="18" charset="0"/>
              </a:rPr>
              <a:t>CyberVerse</a:t>
            </a:r>
            <a:r>
              <a:rPr lang="en-US" sz="1400" dirty="0">
                <a:latin typeface="Times New Roman" panose="02020603050405020304" pitchFamily="18" charset="0"/>
                <a:cs typeface="Times New Roman" panose="02020603050405020304" pitchFamily="18" charset="0"/>
              </a:rPr>
              <a:t>-AI is a web-based cybersecurity analysis and monitoring platform.</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integrates multiple security checks into one centralized application.</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Provides Password Analyzer, URL Threat Scanner, Email Analyzer, and File Integrity Checker.</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Offers a central dashboard, security reports, and administrative monitoring.</a:t>
            </a:r>
          </a:p>
          <a:p>
            <a:pPr marL="285750" lvl="0"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Built using Python, Flask, MySQL, HTML, CSS, and JavaScript.</a:t>
            </a:r>
            <a:endParaRPr lang="en-IN" sz="1400" dirty="0">
              <a:latin typeface="Times New Roman" panose="02020603050405020304" pitchFamily="18" charset="0"/>
              <a:cs typeface="Times New Roman" panose="02020603050405020304" pitchFamily="18" charset="0"/>
            </a:endParaRPr>
          </a:p>
        </p:txBody>
      </p:sp>
      <p:pic>
        <p:nvPicPr>
          <p:cNvPr id="5" name="Image 0"/>
          <p:cNvPicPr>
            <a:picLocks noChangeAspect="1"/>
          </p:cNvPicPr>
          <p:nvPr/>
        </p:nvPicPr>
        <p:blipFill>
          <a:blip r:embed="rId3"/>
          <a:srcRect/>
          <a:stretch/>
        </p:blipFill>
        <p:spPr>
          <a:xfrm>
            <a:off x="5704449" y="1392702"/>
            <a:ext cx="3235569" cy="2757267"/>
          </a:xfrm>
          <a:prstGeom prst="rect">
            <a:avLst/>
          </a:prstGeom>
        </p:spPr>
      </p:pic>
      <p:grpSp>
        <p:nvGrpSpPr>
          <p:cNvPr id="11" name="Group 10">
            <a:extLst>
              <a:ext uri="{FF2B5EF4-FFF2-40B4-BE49-F238E27FC236}">
                <a16:creationId xmlns:a16="http://schemas.microsoft.com/office/drawing/2014/main" id="{C7499311-ACC3-64B4-F6C8-6239B911A5D5}"/>
              </a:ext>
            </a:extLst>
          </p:cNvPr>
          <p:cNvGrpSpPr/>
          <p:nvPr/>
        </p:nvGrpSpPr>
        <p:grpSpPr>
          <a:xfrm>
            <a:off x="256553" y="47643"/>
            <a:ext cx="8786647" cy="722758"/>
            <a:chOff x="357352" y="191643"/>
            <a:chExt cx="11676913" cy="1342897"/>
          </a:xfrm>
        </p:grpSpPr>
        <p:pic>
          <p:nvPicPr>
            <p:cNvPr id="12" name="object 4">
              <a:extLst>
                <a:ext uri="{FF2B5EF4-FFF2-40B4-BE49-F238E27FC236}">
                  <a16:creationId xmlns:a16="http://schemas.microsoft.com/office/drawing/2014/main" id="{627F0F34-0BDF-D617-B30E-A8216763F0E7}"/>
                </a:ext>
              </a:extLst>
            </p:cNvPr>
            <p:cNvPicPr/>
            <p:nvPr/>
          </p:nvPicPr>
          <p:blipFill>
            <a:blip r:embed="rId4" cstate="print"/>
            <a:stretch>
              <a:fillRect/>
            </a:stretch>
          </p:blipFill>
          <p:spPr>
            <a:xfrm>
              <a:off x="357352" y="191643"/>
              <a:ext cx="1103582" cy="1342897"/>
            </a:xfrm>
            <a:prstGeom prst="rect">
              <a:avLst/>
            </a:prstGeom>
          </p:spPr>
        </p:pic>
        <p:pic>
          <p:nvPicPr>
            <p:cNvPr id="13" name="object 5">
              <a:extLst>
                <a:ext uri="{FF2B5EF4-FFF2-40B4-BE49-F238E27FC236}">
                  <a16:creationId xmlns:a16="http://schemas.microsoft.com/office/drawing/2014/main" id="{12F5D73F-E7F4-4EDE-F1DA-75E8AF930303}"/>
                </a:ext>
              </a:extLst>
            </p:cNvPr>
            <p:cNvPicPr/>
            <p:nvPr/>
          </p:nvPicPr>
          <p:blipFill>
            <a:blip r:embed="rId5" cstate="print"/>
            <a:stretch>
              <a:fillRect/>
            </a:stretch>
          </p:blipFill>
          <p:spPr>
            <a:xfrm>
              <a:off x="10514203" y="191643"/>
              <a:ext cx="1520062" cy="1342897"/>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9144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Problem Statement</a:t>
            </a:r>
            <a:endParaRPr lang="en-US" sz="2400" dirty="0"/>
          </a:p>
        </p:txBody>
      </p:sp>
      <p:sp>
        <p:nvSpPr>
          <p:cNvPr id="4" name="Text 2"/>
          <p:cNvSpPr/>
          <p:nvPr/>
        </p:nvSpPr>
        <p:spPr>
          <a:xfrm>
            <a:off x="548640" y="937709"/>
            <a:ext cx="8114400" cy="3268081"/>
          </a:xfrm>
          <a:prstGeom prst="rect">
            <a:avLst/>
          </a:prstGeom>
          <a:noFill/>
          <a:ln/>
        </p:spPr>
        <p:txBody>
          <a:bodyPr wrap="square" rtlCol="0" anchor="ctr"/>
          <a:lstStyle/>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Security checks for passwords, URLs, emails, and downloaded files are often performed using separate tools.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This creates fragmented workflows and makes security analysis less convenient.</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Users have limited centralized visibility of security assessments and activities.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Different security tasks may require different tools and workflows.</a:t>
            </a:r>
          </a:p>
          <a:p>
            <a:pPr marL="285750" indent="-285750" algn="just">
              <a:lnSpc>
                <a:spcPct val="150000"/>
              </a:lnSpc>
              <a:buFont typeface="Arial" panose="020B0604020202020204" pitchFamily="34" charset="0"/>
              <a:buChar char="•"/>
            </a:pPr>
            <a:r>
              <a:rPr lang="en-US" sz="1400" dirty="0" err="1">
                <a:solidFill>
                  <a:srgbClr val="1F2937"/>
                </a:solidFill>
                <a:latin typeface="Times New Roman" panose="02020603050405020304" pitchFamily="18" charset="0"/>
                <a:ea typeface="Segoe UI" pitchFamily="34" charset="-122"/>
                <a:cs typeface="Times New Roman" panose="02020603050405020304" pitchFamily="18" charset="0"/>
              </a:rPr>
              <a:t>CyberVerse</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-AI addresses this problem by integrating multiple security-analysis functions into one platform with common authentication, dashboard, and reporting capabilities.</a:t>
            </a:r>
            <a:endParaRPr lang="en-US" sz="1400"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35D86C91-A7C5-0BCB-4952-8829CC3DE281}"/>
              </a:ext>
            </a:extLst>
          </p:cNvPr>
          <p:cNvGrpSpPr/>
          <p:nvPr/>
        </p:nvGrpSpPr>
        <p:grpSpPr>
          <a:xfrm>
            <a:off x="256553" y="47643"/>
            <a:ext cx="8786647" cy="722758"/>
            <a:chOff x="357352" y="191643"/>
            <a:chExt cx="11676913" cy="1342897"/>
          </a:xfrm>
        </p:grpSpPr>
        <p:pic>
          <p:nvPicPr>
            <p:cNvPr id="7" name="object 4">
              <a:extLst>
                <a:ext uri="{FF2B5EF4-FFF2-40B4-BE49-F238E27FC236}">
                  <a16:creationId xmlns:a16="http://schemas.microsoft.com/office/drawing/2014/main" id="{BCDE9B81-1907-9C88-51BF-DFEB60766F27}"/>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C58FA20E-A069-55F9-4036-2D9463BBF794}"/>
                </a:ext>
              </a:extLst>
            </p:cNvPr>
            <p:cNvPicPr/>
            <p:nvPr/>
          </p:nvPicPr>
          <p:blipFill>
            <a:blip r:embed="rId4" cstate="print"/>
            <a:stretch>
              <a:fillRect/>
            </a:stretch>
          </p:blipFill>
          <p:spPr>
            <a:xfrm>
              <a:off x="10514203" y="191643"/>
              <a:ext cx="1520062" cy="1342897"/>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47643"/>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Literature Review</a:t>
            </a:r>
            <a:endParaRPr lang="en-US" sz="2400" dirty="0"/>
          </a:p>
        </p:txBody>
      </p:sp>
      <p:grpSp>
        <p:nvGrpSpPr>
          <p:cNvPr id="6" name="Group 5">
            <a:extLst>
              <a:ext uri="{FF2B5EF4-FFF2-40B4-BE49-F238E27FC236}">
                <a16:creationId xmlns:a16="http://schemas.microsoft.com/office/drawing/2014/main" id="{5603CF85-B51A-2526-C055-4A039EEE5D3F}"/>
              </a:ext>
            </a:extLst>
          </p:cNvPr>
          <p:cNvGrpSpPr/>
          <p:nvPr/>
        </p:nvGrpSpPr>
        <p:grpSpPr>
          <a:xfrm>
            <a:off x="50400" y="47643"/>
            <a:ext cx="9093599" cy="719436"/>
            <a:chOff x="357352" y="191643"/>
            <a:chExt cx="11676913" cy="1342897"/>
          </a:xfrm>
        </p:grpSpPr>
        <p:pic>
          <p:nvPicPr>
            <p:cNvPr id="7" name="object 4">
              <a:extLst>
                <a:ext uri="{FF2B5EF4-FFF2-40B4-BE49-F238E27FC236}">
                  <a16:creationId xmlns:a16="http://schemas.microsoft.com/office/drawing/2014/main" id="{1316C8D1-0602-65F4-C129-F246A7ECD306}"/>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C056CADE-FC55-6D91-0DD4-F91C74BF0C20}"/>
                </a:ext>
              </a:extLst>
            </p:cNvPr>
            <p:cNvPicPr/>
            <p:nvPr/>
          </p:nvPicPr>
          <p:blipFill>
            <a:blip r:embed="rId4" cstate="print"/>
            <a:stretch>
              <a:fillRect/>
            </a:stretch>
          </p:blipFill>
          <p:spPr>
            <a:xfrm>
              <a:off x="10514203" y="191643"/>
              <a:ext cx="1520062" cy="1342897"/>
            </a:xfrm>
            <a:prstGeom prst="rect">
              <a:avLst/>
            </a:prstGeom>
          </p:spPr>
        </p:pic>
      </p:grpSp>
      <p:graphicFrame>
        <p:nvGraphicFramePr>
          <p:cNvPr id="12" name="Table 11">
            <a:extLst>
              <a:ext uri="{FF2B5EF4-FFF2-40B4-BE49-F238E27FC236}">
                <a16:creationId xmlns:a16="http://schemas.microsoft.com/office/drawing/2014/main" id="{4B0C2306-440C-543A-E468-3DF6108436B8}"/>
              </a:ext>
            </a:extLst>
          </p:cNvPr>
          <p:cNvGraphicFramePr>
            <a:graphicFrameLocks noGrp="1"/>
          </p:cNvGraphicFramePr>
          <p:nvPr>
            <p:extLst>
              <p:ext uri="{D42A27DB-BD31-4B8C-83A1-F6EECF244321}">
                <p14:modId xmlns:p14="http://schemas.microsoft.com/office/powerpoint/2010/main" val="4254125409"/>
              </p:ext>
            </p:extLst>
          </p:nvPr>
        </p:nvGraphicFramePr>
        <p:xfrm>
          <a:off x="126609" y="788719"/>
          <a:ext cx="8968151" cy="4204825"/>
        </p:xfrm>
        <a:graphic>
          <a:graphicData uri="http://schemas.openxmlformats.org/drawingml/2006/table">
            <a:tbl>
              <a:tblPr firstRow="1" bandRow="1">
                <a:tableStyleId>{7DF18680-E054-41AD-8BC1-D1AEF772440D}</a:tableStyleId>
              </a:tblPr>
              <a:tblGrid>
                <a:gridCol w="580217">
                  <a:extLst>
                    <a:ext uri="{9D8B030D-6E8A-4147-A177-3AD203B41FA5}">
                      <a16:colId xmlns:a16="http://schemas.microsoft.com/office/drawing/2014/main" val="20000"/>
                    </a:ext>
                  </a:extLst>
                </a:gridCol>
                <a:gridCol w="1252199">
                  <a:extLst>
                    <a:ext uri="{9D8B030D-6E8A-4147-A177-3AD203B41FA5}">
                      <a16:colId xmlns:a16="http://schemas.microsoft.com/office/drawing/2014/main" val="20001"/>
                    </a:ext>
                  </a:extLst>
                </a:gridCol>
                <a:gridCol w="1963718">
                  <a:extLst>
                    <a:ext uri="{9D8B030D-6E8A-4147-A177-3AD203B41FA5}">
                      <a16:colId xmlns:a16="http://schemas.microsoft.com/office/drawing/2014/main" val="20002"/>
                    </a:ext>
                  </a:extLst>
                </a:gridCol>
                <a:gridCol w="1786472">
                  <a:extLst>
                    <a:ext uri="{9D8B030D-6E8A-4147-A177-3AD203B41FA5}">
                      <a16:colId xmlns:a16="http://schemas.microsoft.com/office/drawing/2014/main" val="20003"/>
                    </a:ext>
                  </a:extLst>
                </a:gridCol>
                <a:gridCol w="3385545">
                  <a:extLst>
                    <a:ext uri="{9D8B030D-6E8A-4147-A177-3AD203B41FA5}">
                      <a16:colId xmlns:a16="http://schemas.microsoft.com/office/drawing/2014/main" val="20004"/>
                    </a:ext>
                  </a:extLst>
                </a:gridCol>
              </a:tblGrid>
              <a:tr h="478741">
                <a:tc>
                  <a:txBody>
                    <a:bodyPr/>
                    <a:lstStyle/>
                    <a:p>
                      <a:pPr algn="l"/>
                      <a:r>
                        <a:rPr sz="1100" b="1" u="none">
                          <a:solidFill>
                            <a:srgbClr val="FFFFFF"/>
                          </a:solidFill>
                        </a:rPr>
                        <a:t>Year</a:t>
                      </a:r>
                      <a:endParaRPr sz="1100" b="1" i="0" u="none">
                        <a:solidFill>
                          <a:srgbClr val="FFFFFF"/>
                        </a:solidFill>
                        <a:latin typeface="Times New Roman"/>
                      </a:endParaRPr>
                    </a:p>
                  </a:txBody>
                  <a:tcPr marL="63500" marR="63500" marT="25400" marB="25400" anchor="ctr"/>
                </a:tc>
                <a:tc>
                  <a:txBody>
                    <a:bodyPr/>
                    <a:lstStyle/>
                    <a:p>
                      <a:pPr algn="l"/>
                      <a:r>
                        <a:rPr sz="1100" b="1" u="none" dirty="0">
                          <a:solidFill>
                            <a:srgbClr val="FFFFFF"/>
                          </a:solidFill>
                        </a:rPr>
                        <a:t>Author(s)</a:t>
                      </a:r>
                      <a:endParaRPr sz="1100" b="1" i="0" u="none" dirty="0">
                        <a:solidFill>
                          <a:srgbClr val="FFFFFF"/>
                        </a:solidFill>
                        <a:latin typeface="Times New Roman"/>
                      </a:endParaRPr>
                    </a:p>
                  </a:txBody>
                  <a:tcPr marL="63500" marR="63500" marT="25400" marB="25400" anchor="ctr"/>
                </a:tc>
                <a:tc>
                  <a:txBody>
                    <a:bodyPr/>
                    <a:lstStyle/>
                    <a:p>
                      <a:pPr algn="l"/>
                      <a:r>
                        <a:rPr sz="1100" b="1" u="none" dirty="0">
                          <a:solidFill>
                            <a:srgbClr val="FFFFFF"/>
                          </a:solidFill>
                        </a:rPr>
                        <a:t>Title</a:t>
                      </a:r>
                      <a:endParaRPr sz="1100" b="1" i="0" u="none" dirty="0">
                        <a:solidFill>
                          <a:srgbClr val="FFFFFF"/>
                        </a:solidFill>
                        <a:latin typeface="Times New Roman"/>
                      </a:endParaRPr>
                    </a:p>
                  </a:txBody>
                  <a:tcPr marL="63500" marR="63500" marT="25400" marB="25400" anchor="ctr"/>
                </a:tc>
                <a:tc>
                  <a:txBody>
                    <a:bodyPr/>
                    <a:lstStyle/>
                    <a:p>
                      <a:pPr algn="l"/>
                      <a:r>
                        <a:rPr sz="1100" b="1" u="none" dirty="0">
                          <a:solidFill>
                            <a:srgbClr val="FFFFFF"/>
                          </a:solidFill>
                        </a:rPr>
                        <a:t>Method Used</a:t>
                      </a:r>
                      <a:endParaRPr sz="1100" b="1" i="0" u="none" dirty="0">
                        <a:solidFill>
                          <a:srgbClr val="FFFFFF"/>
                        </a:solidFill>
                        <a:latin typeface="Times New Roman"/>
                      </a:endParaRPr>
                    </a:p>
                  </a:txBody>
                  <a:tcPr marL="63500" marR="63500" marT="25400" marB="25400" anchor="ctr"/>
                </a:tc>
                <a:tc>
                  <a:txBody>
                    <a:bodyPr/>
                    <a:lstStyle/>
                    <a:p>
                      <a:pPr algn="l"/>
                      <a:r>
                        <a:rPr sz="1100" b="1" u="none">
                          <a:solidFill>
                            <a:srgbClr val="FFFFFF"/>
                          </a:solidFill>
                        </a:rPr>
                        <a:t>Contributions &amp; Limits Addressed</a:t>
                      </a:r>
                      <a:endParaRPr sz="1100" b="1" i="0" u="none">
                        <a:solidFill>
                          <a:srgbClr val="FFFFFF"/>
                        </a:solidFill>
                        <a:latin typeface="Times New Roman"/>
                      </a:endParaRPr>
                    </a:p>
                  </a:txBody>
                  <a:tcPr marL="63500" marR="63500" marT="25400" marB="25400" anchor="ctr"/>
                </a:tc>
                <a:extLst>
                  <a:ext uri="{0D108BD9-81ED-4DB2-BD59-A6C34878D82A}">
                    <a16:rowId xmlns:a16="http://schemas.microsoft.com/office/drawing/2014/main" val="10000"/>
                  </a:ext>
                </a:extLst>
              </a:tr>
              <a:tr h="478741">
                <a:tc>
                  <a:txBody>
                    <a:bodyPr/>
                    <a:lstStyle/>
                    <a:p>
                      <a:pPr algn="l"/>
                      <a:r>
                        <a:rPr sz="1100" b="0" u="none">
                          <a:solidFill>
                            <a:srgbClr val="000000"/>
                          </a:solidFill>
                        </a:rPr>
                        <a:t>2022</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P. Kumar, R. Sharma</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Heuristic Password Entropy &amp; Dictionary Pattern Evaluation</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Shannon Entropy &amp; N-gram Pattern Matching</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Traditional checkers only checked length. Resolved by adding character diversity and dictionary attack heuristics.</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1"/>
                  </a:ext>
                </a:extLst>
              </a:tr>
              <a:tr h="478741">
                <a:tc>
                  <a:txBody>
                    <a:bodyPr/>
                    <a:lstStyle/>
                    <a:p>
                      <a:pPr algn="l"/>
                      <a:r>
                        <a:rPr sz="1100" b="0" u="none">
                          <a:solidFill>
                            <a:srgbClr val="000000"/>
                          </a:solidFill>
                        </a:rPr>
                        <a:t>2022</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M. Al-Sarem et al.</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Lexical &amp; Heuristic Feature-Driven URL Phishing Detection</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Lexical Parsing &amp; Domain Heuristic Scoring</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Relied heavily on slow live DNS blacklists. Resolved using instant client-side lexical extraction and risk scoring.</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2"/>
                  </a:ext>
                </a:extLst>
              </a:tr>
              <a:tr h="478741">
                <a:tc>
                  <a:txBody>
                    <a:bodyPr/>
                    <a:lstStyle/>
                    <a:p>
                      <a:pPr algn="l"/>
                      <a:r>
                        <a:rPr sz="1100" b="0" u="none">
                          <a:solidFill>
                            <a:srgbClr val="000000"/>
                          </a:solidFill>
                        </a:rPr>
                        <a:t>2023</a:t>
                      </a:r>
                      <a:endParaRPr sz="1100" b="0" i="0" u="none">
                        <a:solidFill>
                          <a:srgbClr val="000000"/>
                        </a:solidFill>
                        <a:latin typeface="Times New Roman"/>
                      </a:endParaRPr>
                    </a:p>
                  </a:txBody>
                  <a:tcPr marL="63500" marR="63500" marT="25400" marB="25400" anchor="ctr"/>
                </a:tc>
                <a:tc>
                  <a:txBody>
                    <a:bodyPr/>
                    <a:lstStyle/>
                    <a:p>
                      <a:pPr algn="l"/>
                      <a:r>
                        <a:rPr sz="1100" b="0" u="none" dirty="0">
                          <a:solidFill>
                            <a:srgbClr val="000000"/>
                          </a:solidFill>
                        </a:rPr>
                        <a:t>S. Verma, D. K. Yadav</a:t>
                      </a:r>
                      <a:endParaRPr sz="1100" b="0" i="0" u="none" dirty="0">
                        <a:solidFill>
                          <a:srgbClr val="000000"/>
                        </a:solidFill>
                        <a:latin typeface="Times New Roman"/>
                      </a:endParaRPr>
                    </a:p>
                  </a:txBody>
                  <a:tcPr marL="63500" marR="63500" marT="25400" marB="25400" anchor="ctr"/>
                </a:tc>
                <a:tc>
                  <a:txBody>
                    <a:bodyPr/>
                    <a:lstStyle/>
                    <a:p>
                      <a:pPr algn="l"/>
                      <a:r>
                        <a:rPr sz="1100" b="0" u="none">
                          <a:solidFill>
                            <a:srgbClr val="000000"/>
                          </a:solidFill>
                        </a:rPr>
                        <a:t>Header and Semantic NLP Email Threat Analysis</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NLP Keyword Extraction &amp; Header Anomaly Scanning</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Lacked combined header-body inspection. Resolved by multi-layer parsing of SPF/DKIM flags and phishing indicators.</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3"/>
                  </a:ext>
                </a:extLst>
              </a:tr>
              <a:tr h="478741">
                <a:tc>
                  <a:txBody>
                    <a:bodyPr/>
                    <a:lstStyle/>
                    <a:p>
                      <a:pPr algn="l"/>
                      <a:r>
                        <a:rPr sz="1100" b="0" u="none">
                          <a:solidFill>
                            <a:srgbClr val="000000"/>
                          </a:solidFill>
                        </a:rPr>
                        <a:t>2023</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A. J. Mendez et al.</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Lightweight File Integrity Verification in Web Systems</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Cryptographic Hash Verification</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High computational overhead on large files. Resolved using chunked stream hashing and reference fingerprint matching.</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4"/>
                  </a:ext>
                </a:extLst>
              </a:tr>
              <a:tr h="478741">
                <a:tc>
                  <a:txBody>
                    <a:bodyPr/>
                    <a:lstStyle/>
                    <a:p>
                      <a:pPr algn="l"/>
                      <a:r>
                        <a:rPr sz="1100" b="0" u="none">
                          <a:solidFill>
                            <a:srgbClr val="000000"/>
                          </a:solidFill>
                        </a:rPr>
                        <a:t>2024</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T. H. Nguyen, L. Chen</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Unified Security Dashboard Architecture for SMBs</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Flask Blueprints &amp; REST APIs</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Fragmented standalone security scripts. Resolved by integrating multi-module feeds into a single session-authenticated view.</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5"/>
                  </a:ext>
                </a:extLst>
              </a:tr>
              <a:tr h="478741">
                <a:tc>
                  <a:txBody>
                    <a:bodyPr/>
                    <a:lstStyle/>
                    <a:p>
                      <a:pPr algn="l"/>
                      <a:r>
                        <a:rPr sz="1100" b="0" u="none">
                          <a:solidFill>
                            <a:srgbClr val="000000"/>
                          </a:solidFill>
                        </a:rPr>
                        <a:t>2024</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B. K. Patel et al.</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Centralized Threat Reporting &amp; Incident Logging Systems</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Relational DB &amp; Asynchronous Export</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Lacked unified export formats. Resolved by introducing instant CSV/PDF reporting tied to assessment history logs.</a:t>
                      </a:r>
                      <a:endParaRPr sz="1100" b="0" i="0" u="none">
                        <a:solidFill>
                          <a:srgbClr val="000000"/>
                        </a:solidFill>
                        <a:latin typeface="Times New Roman"/>
                      </a:endParaRPr>
                    </a:p>
                  </a:txBody>
                  <a:tcPr marL="63500" marR="63500" marT="25400" marB="25400" anchor="ctr"/>
                </a:tc>
                <a:extLst>
                  <a:ext uri="{0D108BD9-81ED-4DB2-BD59-A6C34878D82A}">
                    <a16:rowId xmlns:a16="http://schemas.microsoft.com/office/drawing/2014/main" val="10006"/>
                  </a:ext>
                </a:extLst>
              </a:tr>
              <a:tr h="478743">
                <a:tc>
                  <a:txBody>
                    <a:bodyPr/>
                    <a:lstStyle/>
                    <a:p>
                      <a:pPr algn="l"/>
                      <a:r>
                        <a:rPr sz="1100" b="0" u="none">
                          <a:solidFill>
                            <a:srgbClr val="000000"/>
                          </a:solidFill>
                        </a:rPr>
                        <a:t>2025</a:t>
                      </a:r>
                      <a:endParaRPr sz="1100" b="0" i="0" u="none">
                        <a:solidFill>
                          <a:srgbClr val="000000"/>
                        </a:solidFill>
                        <a:latin typeface="Times New Roman"/>
                      </a:endParaRPr>
                    </a:p>
                  </a:txBody>
                  <a:tcPr marL="63500" marR="63500" marT="25400" marB="25400" anchor="ctr"/>
                </a:tc>
                <a:tc>
                  <a:txBody>
                    <a:bodyPr/>
                    <a:lstStyle/>
                    <a:p>
                      <a:pPr algn="l"/>
                      <a:r>
                        <a:rPr sz="1100" b="0" u="none">
                          <a:solidFill>
                            <a:srgbClr val="000000"/>
                          </a:solidFill>
                        </a:rPr>
                        <a:t>CyberVerse Team</a:t>
                      </a:r>
                      <a:endParaRPr sz="1100" b="0" i="0" u="none">
                        <a:solidFill>
                          <a:srgbClr val="000000"/>
                        </a:solidFill>
                        <a:latin typeface="Times New Roman"/>
                      </a:endParaRPr>
                    </a:p>
                  </a:txBody>
                  <a:tcPr marL="63500" marR="63500" marT="25400" marB="25400" anchor="ctr"/>
                </a:tc>
                <a:tc>
                  <a:txBody>
                    <a:bodyPr/>
                    <a:lstStyle/>
                    <a:p>
                      <a:pPr algn="l"/>
                      <a:r>
                        <a:rPr sz="1100" b="0" u="none" dirty="0">
                          <a:solidFill>
                            <a:srgbClr val="000000"/>
                          </a:solidFill>
                        </a:rPr>
                        <a:t>Integrated Web-Based Cybersecurity Platform</a:t>
                      </a:r>
                      <a:endParaRPr sz="1100" b="0" i="0" u="none" dirty="0">
                        <a:solidFill>
                          <a:srgbClr val="000000"/>
                        </a:solidFill>
                        <a:latin typeface="Times New Roman"/>
                      </a:endParaRPr>
                    </a:p>
                  </a:txBody>
                  <a:tcPr marL="63500" marR="63500" marT="25400" marB="25400" anchor="ctr"/>
                </a:tc>
                <a:tc>
                  <a:txBody>
                    <a:bodyPr/>
                    <a:lstStyle/>
                    <a:p>
                      <a:pPr algn="l"/>
                      <a:r>
                        <a:rPr sz="1100" b="0" u="none">
                          <a:solidFill>
                            <a:srgbClr val="000000"/>
                          </a:solidFill>
                        </a:rPr>
                        <a:t>Modular Micro-Engine Pipeline</a:t>
                      </a:r>
                      <a:endParaRPr sz="1100" b="0" i="0" u="none">
                        <a:solidFill>
                          <a:srgbClr val="000000"/>
                        </a:solidFill>
                        <a:latin typeface="Times New Roman"/>
                      </a:endParaRPr>
                    </a:p>
                  </a:txBody>
                  <a:tcPr marL="63500" marR="63500" marT="25400" marB="25400" anchor="ctr"/>
                </a:tc>
                <a:tc>
                  <a:txBody>
                    <a:bodyPr/>
                    <a:lstStyle/>
                    <a:p>
                      <a:pPr algn="l"/>
                      <a:r>
                        <a:rPr sz="1100" b="0" u="none" dirty="0">
                          <a:solidFill>
                            <a:srgbClr val="000000"/>
                          </a:solidFill>
                        </a:rPr>
                        <a:t>Solves workflow fragmentation across password, URL, email</a:t>
                      </a:r>
                      <a:r>
                        <a:rPr lang="en-IN" sz="1100" b="0" u="none" dirty="0">
                          <a:solidFill>
                            <a:srgbClr val="000000"/>
                          </a:solidFill>
                        </a:rPr>
                        <a:t>.</a:t>
                      </a:r>
                      <a:endParaRPr sz="1100" b="0" i="0" u="none" dirty="0">
                        <a:solidFill>
                          <a:srgbClr val="000000"/>
                        </a:solidFill>
                        <a:latin typeface="Times New Roman"/>
                      </a:endParaRPr>
                    </a:p>
                  </a:txBody>
                  <a:tcPr marL="63500" marR="63500" marT="25400" marB="2540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91441"/>
            <a:ext cx="9144000" cy="548640"/>
          </a:xfrm>
          <a:prstGeom prst="rect">
            <a:avLst/>
          </a:prstGeom>
          <a:noFill/>
          <a:ln/>
        </p:spPr>
        <p:txBody>
          <a:bodyPr wrap="square" rtlCol="0" anchor="ctr"/>
          <a:lstStyle/>
          <a:p>
            <a:pPr algn="ctr"/>
            <a:r>
              <a:rPr lang="en-US" sz="2400" b="1" dirty="0">
                <a:latin typeface="Times New Roman" panose="02020603050405020304" pitchFamily="18" charset="0"/>
                <a:ea typeface="Segoe UI" pitchFamily="34" charset="-122"/>
                <a:cs typeface="Times New Roman" panose="02020603050405020304" pitchFamily="18" charset="0"/>
              </a:rPr>
              <a:t>🎯 Project Objectives</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426240" y="944189"/>
            <a:ext cx="4602960" cy="3428808"/>
          </a:xfrm>
          <a:prstGeom prst="rect">
            <a:avLst/>
          </a:prstGeom>
          <a:noFill/>
          <a:ln/>
        </p:spPr>
        <p:txBody>
          <a:bodyPr wrap="square" rtlCol="0" anchor="ctr"/>
          <a:lstStyle/>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Provide one centralized interface for multiple cybersecurity analysis tasks.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Analyze password strength and provide security recommendations.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Assess URLs for potentially suspicious or malicious characteristics.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Analyze emails for phishing and other security risks.</a:t>
            </a:r>
          </a:p>
          <a:p>
            <a:pPr marL="285750" indent="-285750" algn="just">
              <a:lnSpc>
                <a:spcPct val="150000"/>
              </a:lnSpc>
              <a:buFont typeface="Arial" panose="020B0604020202020204" pitchFamily="34" charset="0"/>
              <a:buChar char="•"/>
            </a:pP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Verify file integrity using cryptographic hashes and provide security reports.</a:t>
            </a:r>
            <a:endParaRPr lang="en-US" sz="1400" dirty="0">
              <a:latin typeface="Times New Roman" panose="02020603050405020304" pitchFamily="18" charset="0"/>
              <a:cs typeface="Times New Roman" panose="02020603050405020304" pitchFamily="18" charset="0"/>
            </a:endParaRPr>
          </a:p>
        </p:txBody>
      </p:sp>
      <p:pic>
        <p:nvPicPr>
          <p:cNvPr id="5" name="Image 0"/>
          <p:cNvPicPr>
            <a:picLocks noChangeAspect="1"/>
          </p:cNvPicPr>
          <p:nvPr/>
        </p:nvPicPr>
        <p:blipFill>
          <a:blip r:embed="rId3"/>
          <a:srcRect/>
          <a:stretch/>
        </p:blipFill>
        <p:spPr>
          <a:xfrm>
            <a:off x="5296486" y="1244991"/>
            <a:ext cx="3573194" cy="3128005"/>
          </a:xfrm>
          <a:prstGeom prst="rect">
            <a:avLst/>
          </a:prstGeom>
        </p:spPr>
      </p:pic>
      <p:grpSp>
        <p:nvGrpSpPr>
          <p:cNvPr id="7" name="Group 6">
            <a:extLst>
              <a:ext uri="{FF2B5EF4-FFF2-40B4-BE49-F238E27FC236}">
                <a16:creationId xmlns:a16="http://schemas.microsoft.com/office/drawing/2014/main" id="{80D4249F-0671-864C-1EDC-B4B8BB0E618B}"/>
              </a:ext>
            </a:extLst>
          </p:cNvPr>
          <p:cNvGrpSpPr/>
          <p:nvPr/>
        </p:nvGrpSpPr>
        <p:grpSpPr>
          <a:xfrm>
            <a:off x="165601" y="47643"/>
            <a:ext cx="8877600" cy="722758"/>
            <a:chOff x="357352" y="191643"/>
            <a:chExt cx="11676913" cy="1342897"/>
          </a:xfrm>
        </p:grpSpPr>
        <p:pic>
          <p:nvPicPr>
            <p:cNvPr id="8" name="object 4">
              <a:extLst>
                <a:ext uri="{FF2B5EF4-FFF2-40B4-BE49-F238E27FC236}">
                  <a16:creationId xmlns:a16="http://schemas.microsoft.com/office/drawing/2014/main" id="{74C61656-AF51-B026-7BB1-CCC47B7CE704}"/>
                </a:ext>
              </a:extLst>
            </p:cNvPr>
            <p:cNvPicPr/>
            <p:nvPr/>
          </p:nvPicPr>
          <p:blipFill>
            <a:blip r:embed="rId4" cstate="print"/>
            <a:stretch>
              <a:fillRect/>
            </a:stretch>
          </p:blipFill>
          <p:spPr>
            <a:xfrm>
              <a:off x="357352" y="191643"/>
              <a:ext cx="1103582" cy="1342897"/>
            </a:xfrm>
            <a:prstGeom prst="rect">
              <a:avLst/>
            </a:prstGeom>
          </p:spPr>
        </p:pic>
        <p:pic>
          <p:nvPicPr>
            <p:cNvPr id="9" name="object 5">
              <a:extLst>
                <a:ext uri="{FF2B5EF4-FFF2-40B4-BE49-F238E27FC236}">
                  <a16:creationId xmlns:a16="http://schemas.microsoft.com/office/drawing/2014/main" id="{0ADAA190-A446-4526-949B-164B1BF71C43}"/>
                </a:ext>
              </a:extLst>
            </p:cNvPr>
            <p:cNvPicPr/>
            <p:nvPr/>
          </p:nvPicPr>
          <p:blipFill>
            <a:blip r:embed="rId5" cstate="print"/>
            <a:stretch>
              <a:fillRect/>
            </a:stretch>
          </p:blipFill>
          <p:spPr>
            <a:xfrm>
              <a:off x="10514203" y="191643"/>
              <a:ext cx="1520062" cy="1342897"/>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04620" y="243003"/>
            <a:ext cx="6882923" cy="548640"/>
          </a:xfrm>
          <a:prstGeom prst="rect">
            <a:avLst/>
          </a:prstGeom>
          <a:noFill/>
          <a:ln/>
        </p:spPr>
        <p:txBody>
          <a:bodyPr wrap="square" rtlCol="0" anchor="ctr"/>
          <a:lstStyle/>
          <a:p>
            <a:pPr algn="ctr"/>
            <a:r>
              <a:rPr lang="en-US" sz="2400" b="1" dirty="0">
                <a:latin typeface="Times New Roman" panose="02020603050405020304" pitchFamily="18" charset="0"/>
                <a:ea typeface="Segoe UI" pitchFamily="34" charset="-122"/>
                <a:cs typeface="Times New Roman" panose="02020603050405020304" pitchFamily="18" charset="0"/>
              </a:rPr>
              <a:t>MODULE 1: User &amp; Authentication</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231840" y="1074149"/>
            <a:ext cx="4783292" cy="3554731"/>
          </a:xfrm>
          <a:prstGeom prst="rect">
            <a:avLst/>
          </a:prstGeom>
          <a:noFill/>
          <a:ln/>
        </p:spPr>
        <p:txBody>
          <a:bodyPr wrap="square" rtlCol="0" anchor="ctr"/>
          <a:lstStyle/>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User Registration</a:t>
            </a:r>
            <a:r>
              <a:rPr lang="en-IN" sz="1400" dirty="0">
                <a:latin typeface="Times New Roman" panose="02020603050405020304" pitchFamily="18" charset="0"/>
                <a:cs typeface="Times New Roman" panose="02020603050405020304" pitchFamily="18" charset="0"/>
              </a:rPr>
              <a:t> – Allows new users to create an account and securely enter the platform.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Login &amp; Logout</a:t>
            </a:r>
            <a:r>
              <a:rPr lang="en-IN" sz="1400" dirty="0">
                <a:latin typeface="Times New Roman" panose="02020603050405020304" pitchFamily="18" charset="0"/>
                <a:cs typeface="Times New Roman" panose="02020603050405020304" pitchFamily="18" charset="0"/>
              </a:rPr>
              <a:t> – Authenticates registered users and provides controlled session access.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Session Management</a:t>
            </a:r>
            <a:r>
              <a:rPr lang="en-IN" sz="1400" dirty="0">
                <a:latin typeface="Times New Roman" panose="02020603050405020304" pitchFamily="18" charset="0"/>
                <a:cs typeface="Times New Roman" panose="02020603050405020304" pitchFamily="18" charset="0"/>
              </a:rPr>
              <a:t> – Maintains the user’s authenticated session while using the application.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Protected Dashboard</a:t>
            </a:r>
            <a:r>
              <a:rPr lang="en-IN" sz="1400" dirty="0">
                <a:latin typeface="Times New Roman" panose="02020603050405020304" pitchFamily="18" charset="0"/>
                <a:cs typeface="Times New Roman" panose="02020603050405020304" pitchFamily="18" charset="0"/>
              </a:rPr>
              <a:t> – Ensures only logged-in users can access the main dashboard and security features.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Access Control</a:t>
            </a:r>
            <a:r>
              <a:rPr lang="en-IN" sz="1400" dirty="0">
                <a:latin typeface="Times New Roman" panose="02020603050405020304" pitchFamily="18" charset="0"/>
                <a:cs typeface="Times New Roman" panose="02020603050405020304" pitchFamily="18" charset="0"/>
              </a:rPr>
              <a:t> – Prevents unauthorized users from accessing protected pages and functions. </a:t>
            </a:r>
          </a:p>
        </p:txBody>
      </p:sp>
      <p:grpSp>
        <p:nvGrpSpPr>
          <p:cNvPr id="6" name="Group 5">
            <a:extLst>
              <a:ext uri="{FF2B5EF4-FFF2-40B4-BE49-F238E27FC236}">
                <a16:creationId xmlns:a16="http://schemas.microsoft.com/office/drawing/2014/main" id="{DEBABE4F-9F84-0AA0-3C8C-E1913C15B4F9}"/>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A8A509F0-2DD1-AD83-FBC3-B2B211D90FE8}"/>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107947AC-C0A6-8FBB-E241-450C80FE4D19}"/>
                </a:ext>
              </a:extLst>
            </p:cNvPr>
            <p:cNvPicPr/>
            <p:nvPr/>
          </p:nvPicPr>
          <p:blipFill>
            <a:blip r:embed="rId4" cstate="print"/>
            <a:stretch>
              <a:fillRect/>
            </a:stretch>
          </p:blipFill>
          <p:spPr>
            <a:xfrm>
              <a:off x="10514203" y="191643"/>
              <a:ext cx="1520062" cy="1342897"/>
            </a:xfrm>
            <a:prstGeom prst="rect">
              <a:avLst/>
            </a:prstGeom>
          </p:spPr>
        </p:pic>
      </p:grpSp>
      <p:pic>
        <p:nvPicPr>
          <p:cNvPr id="5" name="Picture 4">
            <a:extLst>
              <a:ext uri="{FF2B5EF4-FFF2-40B4-BE49-F238E27FC236}">
                <a16:creationId xmlns:a16="http://schemas.microsoft.com/office/drawing/2014/main" id="{803858BF-CB61-8809-DF4E-77A534BB0EAE}"/>
              </a:ext>
            </a:extLst>
          </p:cNvPr>
          <p:cNvPicPr>
            <a:picLocks noChangeAspect="1"/>
          </p:cNvPicPr>
          <p:nvPr/>
        </p:nvPicPr>
        <p:blipFill>
          <a:blip r:embed="rId5"/>
          <a:stretch>
            <a:fillRect/>
          </a:stretch>
        </p:blipFill>
        <p:spPr>
          <a:xfrm>
            <a:off x="5289452" y="1247357"/>
            <a:ext cx="3688947" cy="32083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94400" y="156601"/>
            <a:ext cx="6793144" cy="548640"/>
          </a:xfrm>
          <a:prstGeom prst="rect">
            <a:avLst/>
          </a:prstGeom>
          <a:noFill/>
          <a:ln/>
        </p:spPr>
        <p:txBody>
          <a:bodyPr wrap="square" rtlCol="0" anchor="ctr"/>
          <a:lstStyle/>
          <a:p>
            <a:pPr algn="ctr"/>
            <a:r>
              <a:rPr lang="en-US" sz="2400" b="1" dirty="0">
                <a:latin typeface="Times New Roman" panose="02020603050405020304" pitchFamily="18" charset="0"/>
                <a:ea typeface="Segoe UI" pitchFamily="34" charset="-122"/>
                <a:cs typeface="Times New Roman" panose="02020603050405020304" pitchFamily="18" charset="0"/>
              </a:rPr>
              <a:t>MODULE 2: Security Analysis Module</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417378" y="882209"/>
            <a:ext cx="4520381" cy="3707281"/>
          </a:xfrm>
          <a:prstGeom prst="rect">
            <a:avLst/>
          </a:prstGeom>
          <a:noFill/>
          <a:ln/>
        </p:spPr>
        <p:txBody>
          <a:bodyPr wrap="square" rtlCol="0" anchor="ctr"/>
          <a:lstStyle/>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Password Analyzer</a:t>
            </a:r>
            <a:r>
              <a:rPr lang="en-IN" sz="1400" dirty="0">
                <a:latin typeface="Times New Roman" panose="02020603050405020304" pitchFamily="18" charset="0"/>
                <a:cs typeface="Times New Roman" panose="02020603050405020304" pitchFamily="18" charset="0"/>
              </a:rPr>
              <a:t> – Evaluates password strength, patterns, character composition, and provides security recommendations.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URL Threat Scanner</a:t>
            </a:r>
            <a:r>
              <a:rPr lang="en-IN" sz="1400" dirty="0">
                <a:latin typeface="Times New Roman" panose="02020603050405020304" pitchFamily="18" charset="0"/>
                <a:cs typeface="Times New Roman" panose="02020603050405020304" pitchFamily="18" charset="0"/>
              </a:rPr>
              <a:t> – </a:t>
            </a:r>
            <a:r>
              <a:rPr lang="en-IN" sz="1400" dirty="0" err="1">
                <a:latin typeface="Times New Roman" panose="02020603050405020304" pitchFamily="18" charset="0"/>
                <a:cs typeface="Times New Roman" panose="02020603050405020304" pitchFamily="18" charset="0"/>
              </a:rPr>
              <a:t>Analyzes</a:t>
            </a:r>
            <a:r>
              <a:rPr lang="en-IN" sz="1400" dirty="0">
                <a:latin typeface="Times New Roman" panose="02020603050405020304" pitchFamily="18" charset="0"/>
                <a:cs typeface="Times New Roman" panose="02020603050405020304" pitchFamily="18" charset="0"/>
              </a:rPr>
              <a:t> URLs for suspicious characteristics and provides a risk assessment.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Email Analyzer</a:t>
            </a:r>
            <a:r>
              <a:rPr lang="en-IN" sz="1400" dirty="0">
                <a:latin typeface="Times New Roman" panose="02020603050405020304" pitchFamily="18" charset="0"/>
                <a:cs typeface="Times New Roman" panose="02020603050405020304" pitchFamily="18" charset="0"/>
              </a:rPr>
              <a:t> – Examines email content and headers to identify phishing and other security risks.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File Integrity Checker</a:t>
            </a:r>
            <a:r>
              <a:rPr lang="en-IN" sz="1400" dirty="0">
                <a:latin typeface="Times New Roman" panose="02020603050405020304" pitchFamily="18" charset="0"/>
                <a:cs typeface="Times New Roman" panose="02020603050405020304" pitchFamily="18" charset="0"/>
              </a:rPr>
              <a:t> – Uses cryptographic hashing to compare files and detect changes in file content.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Security Assessment</a:t>
            </a:r>
            <a:r>
              <a:rPr lang="en-IN" sz="1400" dirty="0">
                <a:latin typeface="Times New Roman" panose="02020603050405020304" pitchFamily="18" charset="0"/>
                <a:cs typeface="Times New Roman" panose="02020603050405020304" pitchFamily="18" charset="0"/>
              </a:rPr>
              <a:t> – Combines the analysis results to provide users with clear security status and guidance. </a:t>
            </a:r>
          </a:p>
        </p:txBody>
      </p:sp>
      <p:grpSp>
        <p:nvGrpSpPr>
          <p:cNvPr id="6" name="Group 5">
            <a:extLst>
              <a:ext uri="{FF2B5EF4-FFF2-40B4-BE49-F238E27FC236}">
                <a16:creationId xmlns:a16="http://schemas.microsoft.com/office/drawing/2014/main" id="{FB93C538-9FFA-832A-B7FA-77B39DF4476B}"/>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414C806E-392D-D855-37D1-2784B665CAE0}"/>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CE7159B2-7A69-910E-1045-0912B8545ED9}"/>
                </a:ext>
              </a:extLst>
            </p:cNvPr>
            <p:cNvPicPr/>
            <p:nvPr/>
          </p:nvPicPr>
          <p:blipFill>
            <a:blip r:embed="rId4" cstate="print"/>
            <a:stretch>
              <a:fillRect/>
            </a:stretch>
          </p:blipFill>
          <p:spPr>
            <a:xfrm>
              <a:off x="10514203" y="191643"/>
              <a:ext cx="1520062" cy="1342897"/>
            </a:xfrm>
            <a:prstGeom prst="rect">
              <a:avLst/>
            </a:prstGeom>
          </p:spPr>
        </p:pic>
      </p:grpSp>
      <p:pic>
        <p:nvPicPr>
          <p:cNvPr id="5" name="Picture 4">
            <a:extLst>
              <a:ext uri="{FF2B5EF4-FFF2-40B4-BE49-F238E27FC236}">
                <a16:creationId xmlns:a16="http://schemas.microsoft.com/office/drawing/2014/main" id="{2D976102-5470-81CA-8C89-38C5708A6B0C}"/>
              </a:ext>
            </a:extLst>
          </p:cNvPr>
          <p:cNvPicPr>
            <a:picLocks noChangeAspect="1"/>
          </p:cNvPicPr>
          <p:nvPr/>
        </p:nvPicPr>
        <p:blipFill>
          <a:blip r:embed="rId5"/>
          <a:stretch>
            <a:fillRect/>
          </a:stretch>
        </p:blipFill>
        <p:spPr>
          <a:xfrm>
            <a:off x="5064369" y="978583"/>
            <a:ext cx="3829899" cy="34738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04621" y="214203"/>
            <a:ext cx="6882924" cy="548640"/>
          </a:xfrm>
          <a:prstGeom prst="rect">
            <a:avLst/>
          </a:prstGeom>
          <a:noFill/>
          <a:ln/>
        </p:spPr>
        <p:txBody>
          <a:bodyPr wrap="square" rtlCol="0" anchor="ctr"/>
          <a:lstStyle/>
          <a:p>
            <a:pPr algn="ctr"/>
            <a:r>
              <a:rPr lang="en-US" sz="2400" b="1" dirty="0">
                <a:latin typeface="Times New Roman" panose="02020603050405020304" pitchFamily="18" charset="0"/>
                <a:ea typeface="Segoe UI" pitchFamily="34" charset="-122"/>
                <a:cs typeface="Times New Roman" panose="02020603050405020304" pitchFamily="18" charset="0"/>
              </a:rPr>
              <a:t>MODULE 3: Reporting &amp; Administration Module</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499403" y="1134718"/>
            <a:ext cx="4445391" cy="3611699"/>
          </a:xfrm>
          <a:prstGeom prst="rect">
            <a:avLst/>
          </a:prstGeom>
          <a:noFill/>
          <a:ln/>
        </p:spPr>
        <p:txBody>
          <a:bodyPr wrap="square" rtlCol="0" anchor="ctr"/>
          <a:lstStyle/>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Security Reports</a:t>
            </a:r>
            <a:r>
              <a:rPr lang="en-IN" sz="1400" dirty="0">
                <a:latin typeface="Times New Roman" panose="02020603050405020304" pitchFamily="18" charset="0"/>
                <a:cs typeface="Times New Roman" panose="02020603050405020304" pitchFamily="18" charset="0"/>
              </a:rPr>
              <a:t> – Displays security activity, threat information, and assessment results.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Report Generation</a:t>
            </a:r>
            <a:r>
              <a:rPr lang="en-IN" sz="1400" dirty="0">
                <a:latin typeface="Times New Roman" panose="02020603050405020304" pitchFamily="18" charset="0"/>
                <a:cs typeface="Times New Roman" panose="02020603050405020304" pitchFamily="18" charset="0"/>
              </a:rPr>
              <a:t> – Supports generating and exporting security reports in </a:t>
            </a:r>
            <a:r>
              <a:rPr lang="en-IN" sz="1400" b="1" dirty="0">
                <a:latin typeface="Times New Roman" panose="02020603050405020304" pitchFamily="18" charset="0"/>
                <a:cs typeface="Times New Roman" panose="02020603050405020304" pitchFamily="18" charset="0"/>
              </a:rPr>
              <a:t>PDF/CSV formats</a:t>
            </a:r>
            <a:r>
              <a:rPr lang="en-IN" sz="1400" dirty="0">
                <a:latin typeface="Times New Roman" panose="02020603050405020304" pitchFamily="18" charset="0"/>
                <a:cs typeface="Times New Roman" panose="02020603050405020304" pitchFamily="18" charset="0"/>
              </a:rPr>
              <a:t> where implemented.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Admin Panel</a:t>
            </a:r>
            <a:r>
              <a:rPr lang="en-IN" sz="1400" dirty="0">
                <a:latin typeface="Times New Roman" panose="02020603050405020304" pitchFamily="18" charset="0"/>
                <a:cs typeface="Times New Roman" panose="02020603050405020304" pitchFamily="18" charset="0"/>
              </a:rPr>
              <a:t> – Provides administrators with centralized monitoring and operational controls.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Threat Management</a:t>
            </a:r>
            <a:r>
              <a:rPr lang="en-IN" sz="1400" dirty="0">
                <a:latin typeface="Times New Roman" panose="02020603050405020304" pitchFamily="18" charset="0"/>
                <a:cs typeface="Times New Roman" panose="02020603050405020304" pitchFamily="18" charset="0"/>
              </a:rPr>
              <a:t> – Includes prototype actions such as threat containment, escalation, and SOC notification where implemented. </a:t>
            </a:r>
          </a:p>
          <a:p>
            <a:pPr marL="285750" lvl="0" indent="-285750" algn="just">
              <a:lnSpc>
                <a:spcPct val="150000"/>
              </a:lnSpc>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Centralized Monitoring</a:t>
            </a:r>
            <a:r>
              <a:rPr lang="en-IN" sz="1400" dirty="0">
                <a:latin typeface="Times New Roman" panose="02020603050405020304" pitchFamily="18" charset="0"/>
                <a:cs typeface="Times New Roman" panose="02020603050405020304" pitchFamily="18" charset="0"/>
              </a:rPr>
              <a:t> – Helps administrators monitor security activities and manage the platform</a:t>
            </a:r>
          </a:p>
        </p:txBody>
      </p:sp>
      <p:grpSp>
        <p:nvGrpSpPr>
          <p:cNvPr id="6" name="Group 5">
            <a:extLst>
              <a:ext uri="{FF2B5EF4-FFF2-40B4-BE49-F238E27FC236}">
                <a16:creationId xmlns:a16="http://schemas.microsoft.com/office/drawing/2014/main" id="{5527D4C4-AC74-B45D-83C6-6614645582CB}"/>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6C0942B8-FF82-1E84-0307-F4EBC27D841C}"/>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A8415727-D96D-5F53-F895-F5962C3F784B}"/>
                </a:ext>
              </a:extLst>
            </p:cNvPr>
            <p:cNvPicPr/>
            <p:nvPr/>
          </p:nvPicPr>
          <p:blipFill>
            <a:blip r:embed="rId4" cstate="print"/>
            <a:stretch>
              <a:fillRect/>
            </a:stretch>
          </p:blipFill>
          <p:spPr>
            <a:xfrm>
              <a:off x="10514203" y="191643"/>
              <a:ext cx="1520062" cy="1342897"/>
            </a:xfrm>
            <a:prstGeom prst="rect">
              <a:avLst/>
            </a:prstGeom>
          </p:spPr>
        </p:pic>
      </p:grpSp>
      <p:pic>
        <p:nvPicPr>
          <p:cNvPr id="5" name="Picture 4">
            <a:extLst>
              <a:ext uri="{FF2B5EF4-FFF2-40B4-BE49-F238E27FC236}">
                <a16:creationId xmlns:a16="http://schemas.microsoft.com/office/drawing/2014/main" id="{402BB8BC-5137-694A-4AFC-2F3FEA1C1390}"/>
              </a:ext>
            </a:extLst>
          </p:cNvPr>
          <p:cNvPicPr>
            <a:picLocks noChangeAspect="1"/>
          </p:cNvPicPr>
          <p:nvPr/>
        </p:nvPicPr>
        <p:blipFill>
          <a:blip r:embed="rId5"/>
          <a:stretch>
            <a:fillRect/>
          </a:stretch>
        </p:blipFill>
        <p:spPr>
          <a:xfrm>
            <a:off x="5078435" y="929404"/>
            <a:ext cx="3903785" cy="1877102"/>
          </a:xfrm>
          <a:prstGeom prst="rect">
            <a:avLst/>
          </a:prstGeom>
        </p:spPr>
      </p:pic>
      <p:pic>
        <p:nvPicPr>
          <p:cNvPr id="10" name="Picture 9">
            <a:extLst>
              <a:ext uri="{FF2B5EF4-FFF2-40B4-BE49-F238E27FC236}">
                <a16:creationId xmlns:a16="http://schemas.microsoft.com/office/drawing/2014/main" id="{90FD48B0-47AE-764A-CBD8-84809280D90B}"/>
              </a:ext>
            </a:extLst>
          </p:cNvPr>
          <p:cNvPicPr>
            <a:picLocks noChangeAspect="1"/>
          </p:cNvPicPr>
          <p:nvPr/>
        </p:nvPicPr>
        <p:blipFill>
          <a:blip r:embed="rId6"/>
          <a:stretch>
            <a:fillRect/>
          </a:stretch>
        </p:blipFill>
        <p:spPr>
          <a:xfrm>
            <a:off x="5078435" y="2973068"/>
            <a:ext cx="3903785" cy="2081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118803"/>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System Architecture</a:t>
            </a:r>
            <a:endParaRPr lang="en-US" sz="2400" dirty="0"/>
          </a:p>
        </p:txBody>
      </p:sp>
      <p:grpSp>
        <p:nvGrpSpPr>
          <p:cNvPr id="6" name="Group 5">
            <a:extLst>
              <a:ext uri="{FF2B5EF4-FFF2-40B4-BE49-F238E27FC236}">
                <a16:creationId xmlns:a16="http://schemas.microsoft.com/office/drawing/2014/main" id="{E55C7590-FC65-53D3-DC99-813F18B6F30A}"/>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6F56F255-80C8-3E0E-0EA7-3603E831E3B0}"/>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0CD4DD4F-440D-DF6A-4D14-4B5FF4EC7A82}"/>
                </a:ext>
              </a:extLst>
            </p:cNvPr>
            <p:cNvPicPr/>
            <p:nvPr/>
          </p:nvPicPr>
          <p:blipFill>
            <a:blip r:embed="rId4" cstate="print"/>
            <a:stretch>
              <a:fillRect/>
            </a:stretch>
          </p:blipFill>
          <p:spPr>
            <a:xfrm>
              <a:off x="10514203" y="191643"/>
              <a:ext cx="1520062" cy="1342897"/>
            </a:xfrm>
            <a:prstGeom prst="rect">
              <a:avLst/>
            </a:prstGeom>
          </p:spPr>
        </p:pic>
      </p:grpSp>
      <p:pic>
        <p:nvPicPr>
          <p:cNvPr id="5" name="Picture 4">
            <a:extLst>
              <a:ext uri="{FF2B5EF4-FFF2-40B4-BE49-F238E27FC236}">
                <a16:creationId xmlns:a16="http://schemas.microsoft.com/office/drawing/2014/main" id="{3CC269F6-80BC-8A12-E8DE-CBE650329D8A}"/>
              </a:ext>
            </a:extLst>
          </p:cNvPr>
          <p:cNvPicPr>
            <a:picLocks noChangeAspect="1"/>
          </p:cNvPicPr>
          <p:nvPr/>
        </p:nvPicPr>
        <p:blipFill>
          <a:blip r:embed="rId5"/>
          <a:srcRect l="693" t="12135" r="1101" b="1012"/>
          <a:stretch>
            <a:fillRect/>
          </a:stretch>
        </p:blipFill>
        <p:spPr>
          <a:xfrm>
            <a:off x="63304" y="1005840"/>
            <a:ext cx="8979897" cy="40900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E23974-DB5F-6174-743C-85D7E029CD92}"/>
              </a:ext>
            </a:extLst>
          </p:cNvPr>
          <p:cNvSpPr/>
          <p:nvPr/>
        </p:nvSpPr>
        <p:spPr>
          <a:xfrm>
            <a:off x="0" y="118803"/>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TECHNOLOGY STACK</a:t>
            </a:r>
            <a:endParaRPr lang="en-US" sz="2400" dirty="0"/>
          </a:p>
        </p:txBody>
      </p:sp>
      <p:grpSp>
        <p:nvGrpSpPr>
          <p:cNvPr id="3" name="Group 2">
            <a:extLst>
              <a:ext uri="{FF2B5EF4-FFF2-40B4-BE49-F238E27FC236}">
                <a16:creationId xmlns:a16="http://schemas.microsoft.com/office/drawing/2014/main" id="{7DA20971-8B64-3033-23F8-944D3D461ED2}"/>
              </a:ext>
            </a:extLst>
          </p:cNvPr>
          <p:cNvGrpSpPr/>
          <p:nvPr/>
        </p:nvGrpSpPr>
        <p:grpSpPr>
          <a:xfrm>
            <a:off x="165601" y="47643"/>
            <a:ext cx="8877600" cy="722758"/>
            <a:chOff x="357352" y="191643"/>
            <a:chExt cx="11676913" cy="1342897"/>
          </a:xfrm>
        </p:grpSpPr>
        <p:pic>
          <p:nvPicPr>
            <p:cNvPr id="4" name="object 4">
              <a:extLst>
                <a:ext uri="{FF2B5EF4-FFF2-40B4-BE49-F238E27FC236}">
                  <a16:creationId xmlns:a16="http://schemas.microsoft.com/office/drawing/2014/main" id="{19B3BEF2-8CF3-D976-96E8-5A989421B89F}"/>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31667D5B-0DFE-F1ED-8A11-9A13DBB1069D}"/>
                </a:ext>
              </a:extLst>
            </p:cNvPr>
            <p:cNvPicPr/>
            <p:nvPr/>
          </p:nvPicPr>
          <p:blipFill>
            <a:blip r:embed="rId3" cstate="print"/>
            <a:stretch>
              <a:fillRect/>
            </a:stretch>
          </p:blipFill>
          <p:spPr>
            <a:xfrm>
              <a:off x="10514203" y="191643"/>
              <a:ext cx="1520062" cy="1342897"/>
            </a:xfrm>
            <a:prstGeom prst="rect">
              <a:avLst/>
            </a:prstGeom>
          </p:spPr>
        </p:pic>
      </p:grpSp>
      <p:pic>
        <p:nvPicPr>
          <p:cNvPr id="11" name="Picture 10">
            <a:extLst>
              <a:ext uri="{FF2B5EF4-FFF2-40B4-BE49-F238E27FC236}">
                <a16:creationId xmlns:a16="http://schemas.microsoft.com/office/drawing/2014/main" id="{E03C00B5-B2FD-5648-89DB-C87B03A45C0D}"/>
              </a:ext>
            </a:extLst>
          </p:cNvPr>
          <p:cNvPicPr>
            <a:picLocks noChangeAspect="1"/>
          </p:cNvPicPr>
          <p:nvPr/>
        </p:nvPicPr>
        <p:blipFill>
          <a:blip r:embed="rId4"/>
          <a:srcRect l="861" t="8205" r="1133" b="926"/>
          <a:stretch>
            <a:fillRect/>
          </a:stretch>
        </p:blipFill>
        <p:spPr>
          <a:xfrm>
            <a:off x="165601" y="770401"/>
            <a:ext cx="8812798" cy="4325456"/>
          </a:xfrm>
          <a:prstGeom prst="rect">
            <a:avLst/>
          </a:prstGeom>
        </p:spPr>
      </p:pic>
    </p:spTree>
    <p:extLst>
      <p:ext uri="{BB962C8B-B14F-4D97-AF65-F5344CB8AC3E}">
        <p14:creationId xmlns:p14="http://schemas.microsoft.com/office/powerpoint/2010/main" val="2218278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14256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FUNCTIONAL WORKFLOW</a:t>
            </a:r>
            <a:endParaRPr lang="en-US" sz="2400" dirty="0"/>
          </a:p>
        </p:txBody>
      </p:sp>
      <p:grpSp>
        <p:nvGrpSpPr>
          <p:cNvPr id="6" name="Group 5">
            <a:extLst>
              <a:ext uri="{FF2B5EF4-FFF2-40B4-BE49-F238E27FC236}">
                <a16:creationId xmlns:a16="http://schemas.microsoft.com/office/drawing/2014/main" id="{2F1791CD-3FC2-C3E5-1EB3-2BE58A0A286F}"/>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D7362BAD-4C05-7C0E-62AB-9257A69F1DBC}"/>
                </a:ext>
              </a:extLst>
            </p:cNvPr>
            <p:cNvPicPr/>
            <p:nvPr/>
          </p:nvPicPr>
          <p:blipFill>
            <a:blip r:embed="rId3"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C3A3ACDC-8B4C-7C63-4112-32D61CC59935}"/>
                </a:ext>
              </a:extLst>
            </p:cNvPr>
            <p:cNvPicPr/>
            <p:nvPr/>
          </p:nvPicPr>
          <p:blipFill>
            <a:blip r:embed="rId4" cstate="print"/>
            <a:stretch>
              <a:fillRect/>
            </a:stretch>
          </p:blipFill>
          <p:spPr>
            <a:xfrm>
              <a:off x="10514203" y="191643"/>
              <a:ext cx="1520062" cy="1342897"/>
            </a:xfrm>
            <a:prstGeom prst="rect">
              <a:avLst/>
            </a:prstGeom>
          </p:spPr>
        </p:pic>
      </p:grpSp>
      <p:pic>
        <p:nvPicPr>
          <p:cNvPr id="5" name="Picture 4">
            <a:extLst>
              <a:ext uri="{FF2B5EF4-FFF2-40B4-BE49-F238E27FC236}">
                <a16:creationId xmlns:a16="http://schemas.microsoft.com/office/drawing/2014/main" id="{49D0044C-E0F1-848F-A121-92445B12C9A1}"/>
              </a:ext>
            </a:extLst>
          </p:cNvPr>
          <p:cNvPicPr>
            <a:picLocks noChangeAspect="1"/>
          </p:cNvPicPr>
          <p:nvPr/>
        </p:nvPicPr>
        <p:blipFill>
          <a:blip r:embed="rId5"/>
          <a:srcRect l="951" t="9562" r="1499" b="1094"/>
          <a:stretch>
            <a:fillRect/>
          </a:stretch>
        </p:blipFill>
        <p:spPr>
          <a:xfrm>
            <a:off x="165601" y="865319"/>
            <a:ext cx="8877600" cy="41356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9144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Future Scope</a:t>
            </a:r>
            <a:endParaRPr lang="en-US" sz="2400" dirty="0"/>
          </a:p>
        </p:txBody>
      </p:sp>
      <p:sp>
        <p:nvSpPr>
          <p:cNvPr id="4" name="Text 2"/>
          <p:cNvSpPr/>
          <p:nvPr/>
        </p:nvSpPr>
        <p:spPr>
          <a:xfrm>
            <a:off x="450720" y="751741"/>
            <a:ext cx="4536277" cy="3961813"/>
          </a:xfrm>
          <a:prstGeom prst="rect">
            <a:avLst/>
          </a:prstGeom>
          <a:noFill/>
          <a:ln/>
        </p:spPr>
        <p:txBody>
          <a:bodyPr wrap="square" rtlCol="0" anchor="ctr"/>
          <a:lstStyle/>
          <a:p>
            <a:pPr marL="285750" indent="-285750" algn="just">
              <a:lnSpc>
                <a:spcPct val="150000"/>
              </a:lnSpc>
              <a:buFont typeface="Arial" panose="020B0604020202020204" pitchFamily="34" charset="0"/>
              <a:buChar char="•"/>
            </a:pPr>
            <a:r>
              <a:rPr lang="en-US" sz="1400" b="1" dirty="0">
                <a:solidFill>
                  <a:srgbClr val="1F2937"/>
                </a:solidFill>
                <a:latin typeface="Times New Roman" panose="02020603050405020304" pitchFamily="18" charset="0"/>
                <a:ea typeface="Segoe UI" pitchFamily="34" charset="-122"/>
                <a:cs typeface="Times New Roman" panose="02020603050405020304" pitchFamily="18" charset="0"/>
              </a:rPr>
              <a:t>Live Threat Intelligence </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 Integrate real-time threat-intelligence and URL reputation feeds for better threat detection.</a:t>
            </a:r>
            <a:r>
              <a:rPr lang="en-US" sz="1400" dirty="0">
                <a:solidFill>
                  <a:srgbClr val="374151"/>
                </a:solidFill>
                <a:latin typeface="Times New Roman" panose="02020603050405020304" pitchFamily="18" charset="0"/>
                <a:ea typeface="Segoe UI" pitchFamily="34" charset="-122"/>
                <a:cs typeface="Times New Roman" panose="02020603050405020304" pitchFamily="18" charset="0"/>
              </a:rPr>
              <a:t>
</a:t>
            </a:r>
            <a:r>
              <a:rPr lang="en-US" sz="1400" b="1" dirty="0">
                <a:solidFill>
                  <a:srgbClr val="1F2937"/>
                </a:solidFill>
                <a:latin typeface="Times New Roman" panose="02020603050405020304" pitchFamily="18" charset="0"/>
                <a:ea typeface="Segoe UI" pitchFamily="34" charset="-122"/>
                <a:cs typeface="Times New Roman" panose="02020603050405020304" pitchFamily="18" charset="0"/>
              </a:rPr>
              <a:t>Real-Time Alerts – </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Provide instant alerts and notifications when suspicious or malicious activities are detected.</a:t>
            </a:r>
            <a:r>
              <a:rPr lang="en-US" sz="1400" dirty="0">
                <a:solidFill>
                  <a:srgbClr val="374151"/>
                </a:solidFill>
                <a:latin typeface="Times New Roman" panose="02020603050405020304" pitchFamily="18" charset="0"/>
                <a:ea typeface="Segoe UI" pitchFamily="34" charset="-122"/>
                <a:cs typeface="Times New Roman" panose="02020603050405020304" pitchFamily="18" charset="0"/>
              </a:rPr>
              <a:t>
</a:t>
            </a:r>
            <a:r>
              <a:rPr lang="en-US" sz="1400" b="1" dirty="0">
                <a:solidFill>
                  <a:srgbClr val="1F2937"/>
                </a:solidFill>
                <a:latin typeface="Times New Roman" panose="02020603050405020304" pitchFamily="18" charset="0"/>
                <a:ea typeface="Segoe UI" pitchFamily="34" charset="-122"/>
                <a:cs typeface="Times New Roman" panose="02020603050405020304" pitchFamily="18" charset="0"/>
              </a:rPr>
              <a:t>Secure Cloud Deployment – </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Deploy </a:t>
            </a:r>
            <a:r>
              <a:rPr lang="en-US" sz="1400" dirty="0" err="1">
                <a:solidFill>
                  <a:srgbClr val="1F2937"/>
                </a:solidFill>
                <a:latin typeface="Times New Roman" panose="02020603050405020304" pitchFamily="18" charset="0"/>
                <a:ea typeface="Segoe UI" pitchFamily="34" charset="-122"/>
                <a:cs typeface="Times New Roman" panose="02020603050405020304" pitchFamily="18" charset="0"/>
              </a:rPr>
              <a:t>CyberVerse</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-AI securely on cloud infrastructure with continuous monitoring.</a:t>
            </a:r>
            <a:r>
              <a:rPr lang="en-US" sz="1400" dirty="0">
                <a:solidFill>
                  <a:srgbClr val="374151"/>
                </a:solidFill>
                <a:latin typeface="Times New Roman" panose="02020603050405020304" pitchFamily="18" charset="0"/>
                <a:ea typeface="Segoe UI" pitchFamily="34" charset="-122"/>
                <a:cs typeface="Times New Roman" panose="02020603050405020304" pitchFamily="18" charset="0"/>
              </a:rPr>
              <a:t>
</a:t>
            </a:r>
            <a:r>
              <a:rPr lang="en-US" sz="1400" b="1" dirty="0">
                <a:solidFill>
                  <a:srgbClr val="1F2937"/>
                </a:solidFill>
                <a:latin typeface="Times New Roman" panose="02020603050405020304" pitchFamily="18" charset="0"/>
                <a:ea typeface="Segoe UI" pitchFamily="34" charset="-122"/>
                <a:cs typeface="Times New Roman" panose="02020603050405020304" pitchFamily="18" charset="0"/>
              </a:rPr>
              <a:t>Advanced AI Detection – </a:t>
            </a:r>
            <a:r>
              <a:rPr lang="en-US" sz="1400" dirty="0">
                <a:solidFill>
                  <a:srgbClr val="1F2937"/>
                </a:solidFill>
                <a:latin typeface="Times New Roman" panose="02020603050405020304" pitchFamily="18" charset="0"/>
                <a:ea typeface="Segoe UI" pitchFamily="34" charset="-122"/>
                <a:cs typeface="Times New Roman" panose="02020603050405020304" pitchFamily="18" charset="0"/>
              </a:rPr>
              <a:t>Add advanced phishing and anomaly-detection models to identify complex cyber threats.</a:t>
            </a:r>
            <a:endParaRPr lang="en-US" sz="1400" dirty="0">
              <a:latin typeface="Times New Roman" panose="02020603050405020304" pitchFamily="18" charset="0"/>
              <a:cs typeface="Times New Roman" panose="02020603050405020304" pitchFamily="18" charset="0"/>
            </a:endParaRPr>
          </a:p>
        </p:txBody>
      </p:sp>
      <p:pic>
        <p:nvPicPr>
          <p:cNvPr id="5" name="Image 0"/>
          <p:cNvPicPr>
            <a:picLocks noChangeAspect="1"/>
          </p:cNvPicPr>
          <p:nvPr/>
        </p:nvPicPr>
        <p:blipFill>
          <a:blip r:embed="rId3"/>
          <a:srcRect/>
          <a:stretch/>
        </p:blipFill>
        <p:spPr>
          <a:xfrm>
            <a:off x="5212080" y="977704"/>
            <a:ext cx="3763108" cy="3657601"/>
          </a:xfrm>
          <a:prstGeom prst="rect">
            <a:avLst/>
          </a:prstGeom>
        </p:spPr>
      </p:pic>
      <p:grpSp>
        <p:nvGrpSpPr>
          <p:cNvPr id="7" name="Group 6">
            <a:extLst>
              <a:ext uri="{FF2B5EF4-FFF2-40B4-BE49-F238E27FC236}">
                <a16:creationId xmlns:a16="http://schemas.microsoft.com/office/drawing/2014/main" id="{9B0940A3-01CC-AB7E-D268-D7DADE5FCAB2}"/>
              </a:ext>
            </a:extLst>
          </p:cNvPr>
          <p:cNvGrpSpPr/>
          <p:nvPr/>
        </p:nvGrpSpPr>
        <p:grpSpPr>
          <a:xfrm>
            <a:off x="165601" y="47643"/>
            <a:ext cx="8877600" cy="722758"/>
            <a:chOff x="357352" y="191643"/>
            <a:chExt cx="11676913" cy="1342897"/>
          </a:xfrm>
        </p:grpSpPr>
        <p:pic>
          <p:nvPicPr>
            <p:cNvPr id="8" name="object 4">
              <a:extLst>
                <a:ext uri="{FF2B5EF4-FFF2-40B4-BE49-F238E27FC236}">
                  <a16:creationId xmlns:a16="http://schemas.microsoft.com/office/drawing/2014/main" id="{ACA63733-68CA-366B-6263-94FEEE517DA4}"/>
                </a:ext>
              </a:extLst>
            </p:cNvPr>
            <p:cNvPicPr/>
            <p:nvPr/>
          </p:nvPicPr>
          <p:blipFill>
            <a:blip r:embed="rId4" cstate="print"/>
            <a:stretch>
              <a:fillRect/>
            </a:stretch>
          </p:blipFill>
          <p:spPr>
            <a:xfrm>
              <a:off x="357352" y="191643"/>
              <a:ext cx="1103582" cy="1342897"/>
            </a:xfrm>
            <a:prstGeom prst="rect">
              <a:avLst/>
            </a:prstGeom>
          </p:spPr>
        </p:pic>
        <p:pic>
          <p:nvPicPr>
            <p:cNvPr id="9" name="object 5">
              <a:extLst>
                <a:ext uri="{FF2B5EF4-FFF2-40B4-BE49-F238E27FC236}">
                  <a16:creationId xmlns:a16="http://schemas.microsoft.com/office/drawing/2014/main" id="{FA4B4189-17C8-627B-C324-C7AECB20F007}"/>
                </a:ext>
              </a:extLst>
            </p:cNvPr>
            <p:cNvPicPr/>
            <p:nvPr/>
          </p:nvPicPr>
          <p:blipFill>
            <a:blip r:embed="rId5" cstate="print"/>
            <a:stretch>
              <a:fillRect/>
            </a:stretch>
          </p:blipFill>
          <p:spPr>
            <a:xfrm>
              <a:off x="10514203" y="191643"/>
              <a:ext cx="1520062" cy="1342897"/>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92161"/>
            <a:ext cx="9144000" cy="548640"/>
          </a:xfrm>
          <a:prstGeom prst="rect">
            <a:avLst/>
          </a:prstGeom>
          <a:noFill/>
          <a:ln/>
        </p:spPr>
        <p:txBody>
          <a:bodyPr wrap="square" rtlCol="0" anchor="ctr"/>
          <a:lstStyle/>
          <a:p>
            <a:pPr algn="ctr"/>
            <a:r>
              <a:rPr lang="en-US" sz="2400" b="1" dirty="0">
                <a:latin typeface="Segoe UI" pitchFamily="34" charset="0"/>
                <a:ea typeface="Segoe UI" pitchFamily="34" charset="-122"/>
                <a:cs typeface="Segoe UI" pitchFamily="34" charset="-120"/>
              </a:rPr>
              <a:t>🏁 Conclusion</a:t>
            </a:r>
            <a:endParaRPr lang="en-US" sz="2400" dirty="0"/>
          </a:p>
        </p:txBody>
      </p:sp>
      <p:sp>
        <p:nvSpPr>
          <p:cNvPr id="4" name="Text 2"/>
          <p:cNvSpPr/>
          <p:nvPr/>
        </p:nvSpPr>
        <p:spPr>
          <a:xfrm>
            <a:off x="548640" y="868864"/>
            <a:ext cx="8170560" cy="3256016"/>
          </a:xfrm>
          <a:prstGeom prst="rect">
            <a:avLst/>
          </a:prstGeom>
          <a:noFill/>
          <a:ln/>
        </p:spPr>
        <p:txBody>
          <a:bodyPr wrap="square" rtlCol="0" anchor="ctr"/>
          <a:lstStyle/>
          <a:p>
            <a:pPr algn="just">
              <a:lnSpc>
                <a:spcPct val="150000"/>
              </a:lnSpc>
            </a:pPr>
            <a:r>
              <a:rPr lang="en-US" sz="1400">
                <a:latin typeface="Times New Roman" panose="02020603050405020304" pitchFamily="18" charset="0"/>
                <a:cs typeface="Times New Roman" panose="02020603050405020304" pitchFamily="18" charset="0"/>
              </a:rPr>
              <a:t>CyberVerse-AI provides a centralized and modular platform that integrates multiple cybersecurity analysis functions, including password analysis, URL threat scanning, email analysis, file integrity checking, reporting, and administration. By combining these features with authentication, a common dashboard, and a Flask-based architecture, the project offers a practical and user-friendly approach to cybersecurity analysis. The platform can be further enhanced with stronger security controls, live threat intelligence, advanced detection models, and enterprise integrations to support future production-level deployment.</a:t>
            </a:r>
            <a:endParaRPr lang="en-US" sz="14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43A189BE-99A9-1858-D17D-A6525EDDA879}"/>
              </a:ext>
            </a:extLst>
          </p:cNvPr>
          <p:cNvGrpSpPr/>
          <p:nvPr/>
        </p:nvGrpSpPr>
        <p:grpSpPr>
          <a:xfrm>
            <a:off x="165601" y="47643"/>
            <a:ext cx="8877600" cy="722758"/>
            <a:chOff x="357352" y="191643"/>
            <a:chExt cx="11676913" cy="1342897"/>
          </a:xfrm>
        </p:grpSpPr>
        <p:pic>
          <p:nvPicPr>
            <p:cNvPr id="8" name="object 4">
              <a:extLst>
                <a:ext uri="{FF2B5EF4-FFF2-40B4-BE49-F238E27FC236}">
                  <a16:creationId xmlns:a16="http://schemas.microsoft.com/office/drawing/2014/main" id="{3F945C2C-CAF7-AF76-56C0-4A9C8653743C}"/>
                </a:ext>
              </a:extLst>
            </p:cNvPr>
            <p:cNvPicPr/>
            <p:nvPr/>
          </p:nvPicPr>
          <p:blipFill>
            <a:blip r:embed="rId3" cstate="print"/>
            <a:stretch>
              <a:fillRect/>
            </a:stretch>
          </p:blipFill>
          <p:spPr>
            <a:xfrm>
              <a:off x="357352" y="191643"/>
              <a:ext cx="1103582" cy="1342897"/>
            </a:xfrm>
            <a:prstGeom prst="rect">
              <a:avLst/>
            </a:prstGeom>
          </p:spPr>
        </p:pic>
        <p:pic>
          <p:nvPicPr>
            <p:cNvPr id="9" name="object 5">
              <a:extLst>
                <a:ext uri="{FF2B5EF4-FFF2-40B4-BE49-F238E27FC236}">
                  <a16:creationId xmlns:a16="http://schemas.microsoft.com/office/drawing/2014/main" id="{4AC48ED2-84C0-39DC-4413-49BF0D939F5E}"/>
                </a:ext>
              </a:extLst>
            </p:cNvPr>
            <p:cNvPicPr/>
            <p:nvPr/>
          </p:nvPicPr>
          <p:blipFill>
            <a:blip r:embed="rId4" cstate="print"/>
            <a:stretch>
              <a:fillRect/>
            </a:stretch>
          </p:blipFill>
          <p:spPr>
            <a:xfrm>
              <a:off x="10514203" y="191643"/>
              <a:ext cx="1520062" cy="1342897"/>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E82401-BB90-C72D-826E-30E38414643D}"/>
              </a:ext>
            </a:extLst>
          </p:cNvPr>
          <p:cNvSpPr txBox="1"/>
          <p:nvPr/>
        </p:nvSpPr>
        <p:spPr>
          <a:xfrm>
            <a:off x="0" y="191367"/>
            <a:ext cx="9144001" cy="461665"/>
          </a:xfrm>
          <a:prstGeom prst="rect">
            <a:avLst/>
          </a:prstGeom>
          <a:noFill/>
        </p:spPr>
        <p:txBody>
          <a:bodyPr wrap="square">
            <a:spAutoFit/>
          </a:bodyPr>
          <a:lstStyle/>
          <a:p>
            <a:pPr algn="ctr"/>
            <a:r>
              <a:rPr lang="en-US" sz="2400" b="1" dirty="0">
                <a:latin typeface="Segoe UI" pitchFamily="34" charset="0"/>
                <a:ea typeface="Segoe UI" pitchFamily="34" charset="-122"/>
                <a:cs typeface="Segoe UI" pitchFamily="34" charset="-120"/>
              </a:rPr>
              <a:t>References</a:t>
            </a:r>
            <a:endParaRPr lang="en-IN" dirty="0"/>
          </a:p>
        </p:txBody>
      </p:sp>
      <p:sp>
        <p:nvSpPr>
          <p:cNvPr id="5" name="Text 3">
            <a:extLst>
              <a:ext uri="{FF2B5EF4-FFF2-40B4-BE49-F238E27FC236}">
                <a16:creationId xmlns:a16="http://schemas.microsoft.com/office/drawing/2014/main" id="{B525EE67-13F3-ADA3-7335-B95437BF3592}"/>
              </a:ext>
            </a:extLst>
          </p:cNvPr>
          <p:cNvSpPr/>
          <p:nvPr/>
        </p:nvSpPr>
        <p:spPr>
          <a:xfrm>
            <a:off x="362602" y="770400"/>
            <a:ext cx="8493009" cy="4068885"/>
          </a:xfrm>
          <a:prstGeom prst="rect">
            <a:avLst/>
          </a:prstGeom>
          <a:noFill/>
          <a:ln/>
        </p:spPr>
        <p:txBody>
          <a:bodyPr wrap="square" rtlCol="0" anchor="ctr"/>
          <a:lstStyle/>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Jayaprakash, R., Natarajan, K., Daniel, J. A., Chinnappan, C. V., Giri, J., Qin, H., &amp; Mallik, S. (2024). Heuristic machine learning approaches for identifying phishing threats across web and email platforms. </a:t>
            </a:r>
            <a:r>
              <a:rPr lang="en-IN" sz="1400" i="1" dirty="0">
                <a:latin typeface="Times New Roman" panose="02020603050405020304" pitchFamily="18" charset="0"/>
                <a:cs typeface="Times New Roman" panose="02020603050405020304" pitchFamily="18" charset="0"/>
              </a:rPr>
              <a:t>Frontiers in Artificial Intelligence, 7</a:t>
            </a:r>
            <a:r>
              <a:rPr lang="en-IN" sz="1400" dirty="0">
                <a:latin typeface="Times New Roman" panose="02020603050405020304" pitchFamily="18" charset="0"/>
                <a:cs typeface="Times New Roman" panose="02020603050405020304" pitchFamily="18" charset="0"/>
              </a:rPr>
              <a:t>, 1414122. </a:t>
            </a:r>
          </a:p>
          <a:p>
            <a:pPr marL="342900" lvl="0" indent="-342900" algn="just">
              <a:buFont typeface="+mj-lt"/>
              <a:buAutoNum type="arabicPeriod"/>
            </a:pPr>
            <a:endParaRPr lang="en-IN" sz="14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Jishnu, K. S., &amp; Arthi, B. (2024). Exploring GRU-based approaches with attention mechanisms for accurate phishing URL detection. </a:t>
            </a:r>
            <a:r>
              <a:rPr lang="en-IN" sz="1400" i="1" dirty="0">
                <a:latin typeface="Times New Roman" panose="02020603050405020304" pitchFamily="18" charset="0"/>
                <a:cs typeface="Times New Roman" panose="02020603050405020304" pitchFamily="18" charset="0"/>
              </a:rPr>
              <a:t>Intelligent Decision Technologies, 18</a:t>
            </a:r>
            <a:r>
              <a:rPr lang="en-IN" sz="1400" dirty="0">
                <a:latin typeface="Times New Roman" panose="02020603050405020304" pitchFamily="18" charset="0"/>
                <a:cs typeface="Times New Roman" panose="02020603050405020304" pitchFamily="18" charset="0"/>
              </a:rPr>
              <a:t>(2), 1029–1052. </a:t>
            </a:r>
          </a:p>
          <a:p>
            <a:pPr marL="342900" lvl="0" indent="-342900" algn="just">
              <a:buFont typeface="+mj-lt"/>
              <a:buAutoNum type="arabicPeriod"/>
            </a:pPr>
            <a:endParaRPr lang="en-IN" sz="14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Rashid, F., Doyle, B., Han, S. C., &amp; Seneviratne, S. (2024). Phishing URL detection generalisation using unsupervised domain adaptation. </a:t>
            </a:r>
            <a:r>
              <a:rPr lang="en-IN" sz="1400" i="1" dirty="0">
                <a:latin typeface="Times New Roman" panose="02020603050405020304" pitchFamily="18" charset="0"/>
                <a:cs typeface="Times New Roman" panose="02020603050405020304" pitchFamily="18" charset="0"/>
              </a:rPr>
              <a:t>Computer Networks, 245</a:t>
            </a:r>
            <a:r>
              <a:rPr lang="en-IN" sz="1400" dirty="0">
                <a:latin typeface="Times New Roman" panose="02020603050405020304" pitchFamily="18" charset="0"/>
                <a:cs typeface="Times New Roman" panose="02020603050405020304" pitchFamily="18" charset="0"/>
              </a:rPr>
              <a:t>, 110398. </a:t>
            </a:r>
          </a:p>
          <a:p>
            <a:pPr marL="342900" lvl="0" indent="-342900" algn="just">
              <a:buFont typeface="+mj-lt"/>
              <a:buAutoNum type="arabicPeriod"/>
            </a:pPr>
            <a:endParaRPr lang="en-IN" sz="14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Patil, D. (2025). Integrating NLP and ensemble methods for large-scale phishing email detection. </a:t>
            </a:r>
            <a:r>
              <a:rPr lang="en-IN" sz="1400" i="1" dirty="0">
                <a:latin typeface="Times New Roman" panose="02020603050405020304" pitchFamily="18" charset="0"/>
                <a:cs typeface="Times New Roman" panose="02020603050405020304" pitchFamily="18" charset="0"/>
              </a:rPr>
              <a:t>Intelligent Decision Technologies, 19</a:t>
            </a:r>
            <a:r>
              <a:rPr lang="en-IN" sz="1400" dirty="0">
                <a:latin typeface="Times New Roman" panose="02020603050405020304" pitchFamily="18" charset="0"/>
                <a:cs typeface="Times New Roman" panose="02020603050405020304" pitchFamily="18" charset="0"/>
              </a:rPr>
              <a:t>(4), 2123–2144. </a:t>
            </a:r>
          </a:p>
          <a:p>
            <a:pPr marL="342900" lvl="0" indent="-342900" algn="just">
              <a:buFont typeface="+mj-lt"/>
              <a:buAutoNum type="arabicPeriod"/>
            </a:pPr>
            <a:endParaRPr lang="en-IN" sz="14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Barik, K., Misra, S., &amp; Mohan, R. (2025). Web-based phishing URL detection model using deep learning optimization techniques. </a:t>
            </a:r>
            <a:r>
              <a:rPr lang="en-IN" sz="1400" i="1" dirty="0">
                <a:latin typeface="Times New Roman" panose="02020603050405020304" pitchFamily="18" charset="0"/>
                <a:cs typeface="Times New Roman" panose="02020603050405020304" pitchFamily="18" charset="0"/>
              </a:rPr>
              <a:t>International Journal of Data Science and Analytics, 20</a:t>
            </a:r>
            <a:r>
              <a:rPr lang="en-IN" sz="1400" dirty="0">
                <a:latin typeface="Times New Roman" panose="02020603050405020304" pitchFamily="18" charset="0"/>
                <a:cs typeface="Times New Roman" panose="02020603050405020304" pitchFamily="18" charset="0"/>
              </a:rPr>
              <a:t>, 4449–4471. </a:t>
            </a:r>
          </a:p>
          <a:p>
            <a:pPr marL="342900" lvl="0" indent="-342900" algn="just">
              <a:buFont typeface="+mj-lt"/>
              <a:buAutoNum type="arabicPeriod"/>
            </a:pPr>
            <a:endParaRPr lang="en-IN" sz="14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IN" sz="1400" dirty="0">
                <a:latin typeface="Times New Roman" panose="02020603050405020304" pitchFamily="18" charset="0"/>
                <a:cs typeface="Times New Roman" panose="02020603050405020304" pitchFamily="18" charset="0"/>
              </a:rPr>
              <a:t>Gallo, L., Gentile, D., Ruggiero, S., Botta, A., &amp; </a:t>
            </a:r>
            <a:r>
              <a:rPr lang="en-IN" sz="1400" dirty="0" err="1">
                <a:latin typeface="Times New Roman" panose="02020603050405020304" pitchFamily="18" charset="0"/>
                <a:cs typeface="Times New Roman" panose="02020603050405020304" pitchFamily="18" charset="0"/>
              </a:rPr>
              <a:t>Ventre</a:t>
            </a:r>
            <a:r>
              <a:rPr lang="en-IN" sz="1400" dirty="0">
                <a:latin typeface="Times New Roman" panose="02020603050405020304" pitchFamily="18" charset="0"/>
                <a:cs typeface="Times New Roman" panose="02020603050405020304" pitchFamily="18" charset="0"/>
              </a:rPr>
              <a:t>, G. (2023). The human factor in phishing: Collecting and </a:t>
            </a:r>
            <a:r>
              <a:rPr lang="en-IN" sz="1400" dirty="0" err="1">
                <a:latin typeface="Times New Roman" panose="02020603050405020304" pitchFamily="18" charset="0"/>
                <a:cs typeface="Times New Roman" panose="02020603050405020304" pitchFamily="18" charset="0"/>
              </a:rPr>
              <a:t>analyzing</a:t>
            </a:r>
            <a:r>
              <a:rPr lang="en-IN" sz="1400" dirty="0">
                <a:latin typeface="Times New Roman" panose="02020603050405020304" pitchFamily="18" charset="0"/>
                <a:cs typeface="Times New Roman" panose="02020603050405020304" pitchFamily="18" charset="0"/>
              </a:rPr>
              <a:t> user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when reading emails. </a:t>
            </a:r>
            <a:r>
              <a:rPr lang="en-IN" sz="1400" i="1" dirty="0">
                <a:latin typeface="Times New Roman" panose="02020603050405020304" pitchFamily="18" charset="0"/>
                <a:cs typeface="Times New Roman" panose="02020603050405020304" pitchFamily="18" charset="0"/>
              </a:rPr>
              <a:t>Computers &amp; Security</a:t>
            </a:r>
            <a:r>
              <a:rPr lang="en-IN" sz="1400" dirty="0">
                <a:latin typeface="Times New Roman" panose="02020603050405020304" pitchFamily="18" charset="0"/>
                <a:cs typeface="Times New Roman" panose="02020603050405020304" pitchFamily="18" charset="0"/>
              </a:rPr>
              <a:t>.</a:t>
            </a:r>
          </a:p>
        </p:txBody>
      </p:sp>
      <p:grpSp>
        <p:nvGrpSpPr>
          <p:cNvPr id="6" name="Group 5">
            <a:extLst>
              <a:ext uri="{FF2B5EF4-FFF2-40B4-BE49-F238E27FC236}">
                <a16:creationId xmlns:a16="http://schemas.microsoft.com/office/drawing/2014/main" id="{B0B820E2-CF70-C295-5FDB-F5E3A004CE72}"/>
              </a:ext>
            </a:extLst>
          </p:cNvPr>
          <p:cNvGrpSpPr/>
          <p:nvPr/>
        </p:nvGrpSpPr>
        <p:grpSpPr>
          <a:xfrm>
            <a:off x="165601" y="47643"/>
            <a:ext cx="8877600" cy="722758"/>
            <a:chOff x="357352" y="191643"/>
            <a:chExt cx="11676913" cy="1342897"/>
          </a:xfrm>
        </p:grpSpPr>
        <p:pic>
          <p:nvPicPr>
            <p:cNvPr id="7" name="object 4">
              <a:extLst>
                <a:ext uri="{FF2B5EF4-FFF2-40B4-BE49-F238E27FC236}">
                  <a16:creationId xmlns:a16="http://schemas.microsoft.com/office/drawing/2014/main" id="{BC06EAD1-6BF8-7C96-FB5B-6FE7D2A4EA44}"/>
                </a:ext>
              </a:extLst>
            </p:cNvPr>
            <p:cNvPicPr/>
            <p:nvPr/>
          </p:nvPicPr>
          <p:blipFill>
            <a:blip r:embed="rId2" cstate="print"/>
            <a:stretch>
              <a:fillRect/>
            </a:stretch>
          </p:blipFill>
          <p:spPr>
            <a:xfrm>
              <a:off x="357352" y="191643"/>
              <a:ext cx="1103582" cy="1342897"/>
            </a:xfrm>
            <a:prstGeom prst="rect">
              <a:avLst/>
            </a:prstGeom>
          </p:spPr>
        </p:pic>
        <p:pic>
          <p:nvPicPr>
            <p:cNvPr id="8" name="object 5">
              <a:extLst>
                <a:ext uri="{FF2B5EF4-FFF2-40B4-BE49-F238E27FC236}">
                  <a16:creationId xmlns:a16="http://schemas.microsoft.com/office/drawing/2014/main" id="{C645CFB7-FE38-EBB3-0287-CB81474DDE60}"/>
                </a:ext>
              </a:extLst>
            </p:cNvPr>
            <p:cNvPicPr/>
            <p:nvPr/>
          </p:nvPicPr>
          <p:blipFill>
            <a:blip r:embed="rId3" cstate="print"/>
            <a:stretch>
              <a:fillRect/>
            </a:stretch>
          </p:blipFill>
          <p:spPr>
            <a:xfrm>
              <a:off x="10514203" y="191643"/>
              <a:ext cx="1520062" cy="1342897"/>
            </a:xfrm>
            <a:prstGeom prst="rect">
              <a:avLst/>
            </a:prstGeom>
          </p:spPr>
        </p:pic>
      </p:grpSp>
    </p:spTree>
    <p:extLst>
      <p:ext uri="{BB962C8B-B14F-4D97-AF65-F5344CB8AC3E}">
        <p14:creationId xmlns:p14="http://schemas.microsoft.com/office/powerpoint/2010/main" val="3292904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1840230"/>
            <a:ext cx="9144000" cy="914400"/>
          </a:xfrm>
          <a:prstGeom prst="rect">
            <a:avLst/>
          </a:prstGeom>
          <a:noFill/>
          <a:ln/>
        </p:spPr>
        <p:txBody>
          <a:bodyPr wrap="square" rtlCol="0" anchor="ctr"/>
          <a:lstStyle/>
          <a:p>
            <a:pPr algn="ctr"/>
            <a:r>
              <a:rPr lang="en-US" sz="4800" b="1" dirty="0">
                <a:solidFill>
                  <a:srgbClr val="5B4DFB"/>
                </a:solidFill>
                <a:latin typeface="Segoe UI" pitchFamily="34" charset="0"/>
                <a:ea typeface="Segoe UI" pitchFamily="34" charset="-122"/>
                <a:cs typeface="Segoe UI"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167</TotalTime>
  <Words>1283</Words>
  <Application>Microsoft Office PowerPoint</Application>
  <PresentationFormat>On-screen Show (16:9)</PresentationFormat>
  <Paragraphs>122</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Haroon</cp:lastModifiedBy>
  <cp:revision>9</cp:revision>
  <dcterms:created xsi:type="dcterms:W3CDTF">2026-08-16T18:52:14Z</dcterms:created>
  <dcterms:modified xsi:type="dcterms:W3CDTF">2026-08-20T18:02:06Z</dcterms:modified>
</cp:coreProperties>
</file>